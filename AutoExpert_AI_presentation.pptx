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nous sommes l'equipe AutoExpert AI : Jules, Arthur et Evariste. Notre projet infuse l'IA dans une application concrete : inspecter un vehicule d'occasion a partir de simples photos, evaluer son etat et aller jusqu'a conseiller un prix d'achat. Nous allons vous montrer comment il reunit les quatre capacites Azure demandees, puis une demonstration en direct.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de depart est un probleme reel : le marche de l'occasion souffre d'asymetrie d'information. Le vendeur connait le vehicule, pas l'acheteur, qui n'a ni l'expertise pour reperer les dommages, ni les moyens de juger un prix. Resultat : mauvaises affaires, litiges. A droite, ce qu'AutoExpert AI apporte : une expertise automatique, du diagnostic jusqu'au prix conseille.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concept tient en une chaine : une photo entre, elle passe par la vision par ordinateur, puis le machine learning, puis nos agents, et il en sort un rapport avec un prix. Point important : ce meme pipeline sert plusieurs publics — acheteur, vendeur, garage, assureur, gestion de flotte. C'est ce qui en fait un produit et pas une simple demo.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repond directement a la consigne. Un : les capacites cognitives avec Azure Computer Vision. Deux : le scenario Edge, la webapp tourne en local dans Docker. Trois : le machine learning avec Azure ML pour le cout et la valeur. Quatre : l'agentique, un orchestrateur qui delegue a trois sous-agents. Chaque membre de l'equipe va detailler une brique.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l'architecture. L'utilisateur envoie des photos a l'application web, qui tourne en local — c'est la couche Edge. Cette webapp appelle un agent orchestrateur, qui coordonne trois sous-agents : evaluation, negociation et rapport. Ces agents s'appuient sur deux services : la vision par ordinateur et le machine learning. Chaque couche est independante.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Premiere brique, la vision. Nous avons entraine un modele Azure Custom Vision, que nous avons exporte en conteneur Docker et qui tourne en local sur le port 88 — aucune cle cloud n'est necessaire pendant la demo. Le modele classe l'etat du vehicule : Bon ou Detruit. On en deduit un score sur 100, et si la reparation depasse 80 % de la valeur, on declare une perte totale, une epave.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Deuxieme brique technique, le machine learning, avec Azure ML. Un premier modele estime le cout de reparation a partir des dommages ; c'est exactement la demarche du tutoriel du cours : un modele entraine dans ML Designer, deploye en endpoint temps reel, consomme en REST. Un second calcul estime la valeur marchande par depreciation. La regle cle : si reparer coute plus de 80 % de la valeur, c'est une perte totale economique.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brique agentique, notre coeur. Un agent orchestrateur ne fait pas le travail lui-meme : il delegue a trois sous-agents specialises. Ce qu'on veut vraiment montrer, c'est que la communication entre agents est visible en direct : chaque delegation et chaque reponse s'affiche en streaming dans la webapp. Les agents s'appuient sur un LLM, ici Mistral, mais Ollama ou Gemini sont branchables.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brique Edge. Toute l'application est conteneurisee et tourne sur le laptop : un simple docker compose up et la webapp est accessible sur localhost. Detail important pour la note : une seule variable, AZURE_MODE, bascule entre le mode mock — tout simule, sans compte Azure — et le mode reel branche sur Azure, sans changer une ligne de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a la demonstration. On lance la webapp, on saisit un vehicule et on ajoute une photo, puis on lance l'inspection. Regardez le panneau d'orchestration : les agents communiquent en direct. A la fin, le rapport complet s'affiche : dommages, cout, valeur et prix conseille. (Basculer sur le navigateur pour la demo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MVP couvre le parcours complet de l'acheteur : upload, detection, chiffrage, orchestration et prix conseille — tout est fonctionnel. Hors perimetre, ce sont les evolutions : modeles entraines sur donnees reelles, detection fine du type de dommage, video 360, comptes utilisateurs, mobile. L'important : c'est fonctionnel sans budget Azure, et branchable sur Azure sans reecriture.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 AutoExpert AI est un cas concret qui reunit les quatre briques — vision, machine learning, agents et Edge — autour d'un probleme reel. C'est demontrable en local aujourd'hui, et deployable sur Azure sans reecriture. Merci de votre attention, nous sommes prets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340"/>
        </a:solidFill>
        <a:effectLst/>
      </p:bgPr>
    </p:bg>
    <p:spTree>
      <p:nvGrpSpPr>
        <p:cNvPr id="1" name=""/>
        <p:cNvGrpSpPr/>
        <p:nvPr/>
      </p:nvGrpSpPr>
      <p:grpSpPr/>
      <p:sp>
        <p:nvSpPr>
          <p:cNvPr id="2" name="Rounded Rectangle 1"/>
          <p:cNvSpPr/>
          <p:nvPr/>
        </p:nvSpPr>
        <p:spPr>
          <a:xfrm>
            <a:off x="10881360" y="640080"/>
            <a:ext cx="274320" cy="274320"/>
          </a:xfrm>
          <a:prstGeom prst="roundRect">
            <a:avLst>
              <a:gd name="adj" fmla="val 30000"/>
            </a:avLst>
          </a:prstGeom>
          <a:solidFill>
            <a:srgbClr val="232C52"/>
          </a:solidFill>
          <a:ln w="15875">
            <a:solidFill>
              <a:srgbClr val="AFC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92840" y="1143000"/>
            <a:ext cx="274320" cy="274320"/>
          </a:xfrm>
          <a:prstGeom prst="roundRect">
            <a:avLst>
              <a:gd name="adj" fmla="val 30000"/>
            </a:avLst>
          </a:prstGeom>
          <a:solidFill>
            <a:srgbClr val="232C52"/>
          </a:solidFill>
          <a:ln w="15875">
            <a:solidFill>
              <a:srgbClr val="AFC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561320" y="1371600"/>
            <a:ext cx="274320" cy="274320"/>
          </a:xfrm>
          <a:prstGeom prst="roundRect">
            <a:avLst>
              <a:gd name="adj" fmla="val 30000"/>
            </a:avLst>
          </a:prstGeom>
          <a:solidFill>
            <a:srgbClr val="232C52"/>
          </a:solidFill>
          <a:ln w="15875">
            <a:solidFill>
              <a:srgbClr val="AFC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9144000" cy="365760"/>
          </a:xfrm>
          <a:prstGeom prst="rect">
            <a:avLst/>
          </a:prstGeom>
          <a:noFill/>
        </p:spPr>
        <p:txBody>
          <a:bodyPr wrap="square" lIns="0" rIns="0" tIns="0" bIns="0" anchor="t">
            <a:spAutoFit/>
          </a:bodyPr>
          <a:lstStyle/>
          <a:p>
            <a:pPr algn="l">
              <a:lnSpc>
                <a:spcPct val="100000"/>
              </a:lnSpc>
            </a:pPr>
            <a:r>
              <a:rPr sz="1300" b="1">
                <a:solidFill>
                  <a:srgbClr val="4C5FD9"/>
                </a:solidFill>
                <a:latin typeface="Calibri"/>
              </a:rPr>
              <a:t>MAZU  ·  MICROSOFT AZURE  ·  PROJET</a:t>
            </a:r>
          </a:p>
        </p:txBody>
      </p:sp>
      <p:sp>
        <p:nvSpPr>
          <p:cNvPr id="6" name="TextBox 5"/>
          <p:cNvSpPr txBox="1"/>
          <p:nvPr/>
        </p:nvSpPr>
        <p:spPr>
          <a:xfrm>
            <a:off x="822960" y="2011680"/>
            <a:ext cx="10424160" cy="1828800"/>
          </a:xfrm>
          <a:prstGeom prst="rect">
            <a:avLst/>
          </a:prstGeom>
          <a:noFill/>
        </p:spPr>
        <p:txBody>
          <a:bodyPr wrap="square" lIns="0" rIns="0" tIns="0" bIns="0" anchor="t">
            <a:spAutoFit/>
          </a:bodyPr>
          <a:lstStyle/>
          <a:p>
            <a:pPr algn="l">
              <a:lnSpc>
                <a:spcPct val="105000"/>
              </a:lnSpc>
            </a:pPr>
            <a:r>
              <a:rPr sz="4000" b="1">
                <a:solidFill>
                  <a:srgbClr val="FFFFFF"/>
                </a:solidFill>
                <a:latin typeface="Cambria"/>
              </a:rPr>
              <a:t>AutoExpert AI</a:t>
            </a:r>
          </a:p>
          <a:p>
            <a:pPr algn="l">
              <a:lnSpc>
                <a:spcPct val="105000"/>
              </a:lnSpc>
            </a:pPr>
            <a:r>
              <a:rPr sz="2400" b="1">
                <a:solidFill>
                  <a:srgbClr val="FFFFFF"/>
                </a:solidFill>
                <a:latin typeface="Cambria"/>
              </a:rPr>
              <a:t>Inspection automobile par intelligence artificielle</a:t>
            </a:r>
          </a:p>
        </p:txBody>
      </p:sp>
      <p:sp>
        <p:nvSpPr>
          <p:cNvPr id="7" name="TextBox 6"/>
          <p:cNvSpPr txBox="1"/>
          <p:nvPr/>
        </p:nvSpPr>
        <p:spPr>
          <a:xfrm>
            <a:off x="822960" y="4069080"/>
            <a:ext cx="10058400" cy="548640"/>
          </a:xfrm>
          <a:prstGeom prst="rect">
            <a:avLst/>
          </a:prstGeom>
          <a:noFill/>
        </p:spPr>
        <p:txBody>
          <a:bodyPr wrap="square" lIns="0" rIns="0" tIns="0" bIns="0" anchor="t">
            <a:spAutoFit/>
          </a:bodyPr>
          <a:lstStyle/>
          <a:p>
            <a:pPr algn="l">
              <a:lnSpc>
                <a:spcPct val="100000"/>
              </a:lnSpc>
            </a:pPr>
            <a:r>
              <a:rPr sz="1800" b="0">
                <a:solidFill>
                  <a:srgbClr val="AFC0FF"/>
                </a:solidFill>
                <a:latin typeface="Calibri"/>
              </a:rPr>
              <a:t>De la photo au prix : Computer Vision, Machine Learning et agents</a:t>
            </a:r>
          </a:p>
        </p:txBody>
      </p:sp>
      <p:cxnSp>
        <p:nvCxnSpPr>
          <p:cNvPr id="8" name="Connector 7"/>
          <p:cNvCxnSpPr/>
          <p:nvPr/>
        </p:nvCxnSpPr>
        <p:spPr>
          <a:xfrm>
            <a:off x="822960" y="4800600"/>
            <a:ext cx="2926079" cy="0"/>
          </a:xfrm>
          <a:prstGeom prst="bentConnector3">
            <a:avLst/>
          </a:prstGeom>
          <a:ln w="12700">
            <a:solidFill>
              <a:srgbClr val="3A447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5943600"/>
            <a:ext cx="10607040" cy="731520"/>
          </a:xfrm>
          <a:prstGeom prst="rect">
            <a:avLst/>
          </a:prstGeom>
          <a:noFill/>
        </p:spPr>
        <p:txBody>
          <a:bodyPr wrap="square" lIns="0" rIns="0" tIns="0" bIns="0" anchor="t">
            <a:spAutoFit/>
          </a:bodyPr>
          <a:lstStyle/>
          <a:p>
            <a:pPr algn="l">
              <a:lnSpc>
                <a:spcPct val="125000"/>
              </a:lnSpc>
            </a:pPr>
            <a:r>
              <a:rPr sz="1300" b="1">
                <a:solidFill>
                  <a:srgbClr val="C9D2F0"/>
                </a:solidFill>
                <a:latin typeface="Calibri"/>
              </a:rPr>
              <a:t>Équipe  —  Jules Lange  ·  Arthur Goullet De Rugy  ·  Évariste Balvay</a:t>
            </a:r>
          </a:p>
          <a:p>
            <a:pPr algn="l">
              <a:lnSpc>
                <a:spcPct val="125000"/>
              </a:lnSpc>
            </a:pPr>
            <a:r>
              <a:rPr sz="1200" b="0">
                <a:solidFill>
                  <a:srgbClr val="8A93C0"/>
                </a:solidFill>
                <a:latin typeface="Calibri"/>
              </a:rPr>
              <a:t>Microsoft Azure  ·  Juillet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LE PROBLÈME</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Acheter une occasion, à l'aveugle</a:t>
            </a:r>
          </a:p>
        </p:txBody>
      </p:sp>
      <p:sp>
        <p:nvSpPr>
          <p:cNvPr id="4" name="Rounded Rectangle 3"/>
          <p:cNvSpPr/>
          <p:nvPr/>
        </p:nvSpPr>
        <p:spPr>
          <a:xfrm>
            <a:off x="548640" y="1600200"/>
            <a:ext cx="5212080" cy="3749039"/>
          </a:xfrm>
          <a:prstGeom prst="roundRect">
            <a:avLst>
              <a:gd name="adj" fmla="val 6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572000" cy="320040"/>
          </a:xfrm>
          <a:prstGeom prst="rect">
            <a:avLst/>
          </a:prstGeom>
          <a:noFill/>
        </p:spPr>
        <p:txBody>
          <a:bodyPr wrap="square" lIns="0" rIns="0" tIns="0" bIns="0" anchor="t">
            <a:spAutoFit/>
          </a:bodyPr>
          <a:lstStyle/>
          <a:p>
            <a:pPr algn="l">
              <a:lnSpc>
                <a:spcPct val="100000"/>
              </a:lnSpc>
            </a:pPr>
            <a:r>
              <a:rPr sz="1400" b="1">
                <a:solidFill>
                  <a:srgbClr val="8A93A8"/>
                </a:solidFill>
                <a:latin typeface="Calibri"/>
              </a:rPr>
              <a:t>ACHETEUR SEUL</a:t>
            </a:r>
          </a:p>
        </p:txBody>
      </p:sp>
      <p:sp>
        <p:nvSpPr>
          <p:cNvPr id="6" name="TextBox 5"/>
          <p:cNvSpPr txBox="1"/>
          <p:nvPr/>
        </p:nvSpPr>
        <p:spPr>
          <a:xfrm>
            <a:off x="868680" y="2423160"/>
            <a:ext cx="4663440" cy="2743200"/>
          </a:xfrm>
          <a:prstGeom prst="rect">
            <a:avLst/>
          </a:prstGeom>
          <a:noFill/>
        </p:spPr>
        <p:txBody>
          <a:bodyPr wrap="square" lIns="0" rIns="0" tIns="0" bIns="0">
            <a:spAutoFit/>
          </a:bodyPr>
          <a:lstStyle/>
          <a:p>
            <a:pPr>
              <a:lnSpc>
                <a:spcPct val="115000"/>
              </a:lnSpc>
              <a:spcAft>
                <a:spcPts val="600"/>
              </a:spcAft>
            </a:pPr>
            <a:r>
              <a:rPr sz="1300" b="1">
                <a:solidFill>
                  <a:srgbClr val="8A93A8"/>
                </a:solidFill>
                <a:latin typeface="Calibri"/>
              </a:rPr>
              <a:t>•  </a:t>
            </a:r>
            <a:r>
              <a:rPr sz="1300">
                <a:solidFill>
                  <a:srgbClr val="232741"/>
                </a:solidFill>
                <a:latin typeface="Calibri"/>
              </a:rPr>
              <a:t>Aucune expertise technique</a:t>
            </a:r>
          </a:p>
          <a:p>
            <a:pPr>
              <a:lnSpc>
                <a:spcPct val="115000"/>
              </a:lnSpc>
              <a:spcAft>
                <a:spcPts val="600"/>
              </a:spcAft>
            </a:pPr>
            <a:r>
              <a:rPr sz="1300" b="1">
                <a:solidFill>
                  <a:srgbClr val="8A93A8"/>
                </a:solidFill>
                <a:latin typeface="Calibri"/>
              </a:rPr>
              <a:t>•  </a:t>
            </a:r>
            <a:r>
              <a:rPr sz="1300">
                <a:solidFill>
                  <a:srgbClr val="232741"/>
                </a:solidFill>
                <a:latin typeface="Calibri"/>
              </a:rPr>
              <a:t>Des dommages invisibles à l'œil nu</a:t>
            </a:r>
          </a:p>
          <a:p>
            <a:pPr>
              <a:lnSpc>
                <a:spcPct val="115000"/>
              </a:lnSpc>
              <a:spcAft>
                <a:spcPts val="600"/>
              </a:spcAft>
            </a:pPr>
            <a:r>
              <a:rPr sz="1300" b="1">
                <a:solidFill>
                  <a:srgbClr val="8A93A8"/>
                </a:solidFill>
                <a:latin typeface="Calibri"/>
              </a:rPr>
              <a:t>•  </a:t>
            </a:r>
            <a:r>
              <a:rPr sz="1300">
                <a:solidFill>
                  <a:srgbClr val="232741"/>
                </a:solidFill>
                <a:latin typeface="Calibri"/>
              </a:rPr>
              <a:t>Un prix impossible à juger objectivement</a:t>
            </a:r>
          </a:p>
          <a:p>
            <a:pPr>
              <a:lnSpc>
                <a:spcPct val="115000"/>
              </a:lnSpc>
              <a:spcAft>
                <a:spcPts val="600"/>
              </a:spcAft>
            </a:pPr>
            <a:r>
              <a:rPr sz="1300" b="1">
                <a:solidFill>
                  <a:srgbClr val="8A93A8"/>
                </a:solidFill>
                <a:latin typeface="Calibri"/>
              </a:rPr>
              <a:t>•  </a:t>
            </a:r>
            <a:r>
              <a:rPr sz="1300">
                <a:solidFill>
                  <a:srgbClr val="232741"/>
                </a:solidFill>
                <a:latin typeface="Calibri"/>
              </a:rPr>
              <a:t>Un risque d'arnaque permanent</a:t>
            </a:r>
          </a:p>
        </p:txBody>
      </p:sp>
      <p:sp>
        <p:nvSpPr>
          <p:cNvPr id="7" name="Rounded Rectangle 6"/>
          <p:cNvSpPr/>
          <p:nvPr/>
        </p:nvSpPr>
        <p:spPr>
          <a:xfrm>
            <a:off x="6080760" y="1600200"/>
            <a:ext cx="5212080" cy="3749039"/>
          </a:xfrm>
          <a:prstGeom prst="roundRect">
            <a:avLst>
              <a:gd name="adj" fmla="val 6000"/>
            </a:avLst>
          </a:prstGeom>
          <a:solidFill>
            <a:srgbClr val="4C5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572000" cy="320040"/>
          </a:xfrm>
          <a:prstGeom prst="rect">
            <a:avLst/>
          </a:prstGeom>
          <a:noFill/>
        </p:spPr>
        <p:txBody>
          <a:bodyPr wrap="square" lIns="0" rIns="0" tIns="0" bIns="0" anchor="t">
            <a:spAutoFit/>
          </a:bodyPr>
          <a:lstStyle/>
          <a:p>
            <a:pPr algn="l">
              <a:lnSpc>
                <a:spcPct val="100000"/>
              </a:lnSpc>
            </a:pPr>
            <a:r>
              <a:rPr sz="1400" b="1">
                <a:solidFill>
                  <a:srgbClr val="FFFFFF"/>
                </a:solidFill>
                <a:latin typeface="Calibri"/>
              </a:rPr>
              <a:t>AVEC AUTOEXPERT AI</a:t>
            </a:r>
          </a:p>
        </p:txBody>
      </p:sp>
      <p:sp>
        <p:nvSpPr>
          <p:cNvPr id="9" name="TextBox 8"/>
          <p:cNvSpPr txBox="1"/>
          <p:nvPr/>
        </p:nvSpPr>
        <p:spPr>
          <a:xfrm>
            <a:off x="6400800" y="2423160"/>
            <a:ext cx="4663440" cy="2743200"/>
          </a:xfrm>
          <a:prstGeom prst="rect">
            <a:avLst/>
          </a:prstGeom>
          <a:noFill/>
        </p:spPr>
        <p:txBody>
          <a:bodyPr wrap="square" lIns="0" rIns="0" tIns="0" bIns="0">
            <a:spAutoFit/>
          </a:bodyPr>
          <a:lstStyle/>
          <a:p>
            <a:pPr>
              <a:lnSpc>
                <a:spcPct val="115000"/>
              </a:lnSpc>
              <a:spcAft>
                <a:spcPts val="600"/>
              </a:spcAft>
            </a:pPr>
            <a:r>
              <a:rPr sz="1300" b="1">
                <a:solidFill>
                  <a:srgbClr val="FFFFFF"/>
                </a:solidFill>
                <a:latin typeface="Calibri"/>
              </a:rPr>
              <a:t>•  </a:t>
            </a:r>
            <a:r>
              <a:rPr sz="1300">
                <a:solidFill>
                  <a:srgbClr val="FFFFFF"/>
                </a:solidFill>
                <a:latin typeface="Calibri"/>
              </a:rPr>
              <a:t>Dommages détectés automatiquement sur photo</a:t>
            </a:r>
          </a:p>
          <a:p>
            <a:pPr>
              <a:lnSpc>
                <a:spcPct val="115000"/>
              </a:lnSpc>
              <a:spcAft>
                <a:spcPts val="600"/>
              </a:spcAft>
            </a:pPr>
            <a:r>
              <a:rPr sz="1300" b="1">
                <a:solidFill>
                  <a:srgbClr val="FFFFFF"/>
                </a:solidFill>
                <a:latin typeface="Calibri"/>
              </a:rPr>
              <a:t>•  </a:t>
            </a:r>
            <a:r>
              <a:rPr sz="1300">
                <a:solidFill>
                  <a:srgbClr val="FFFFFF"/>
                </a:solidFill>
                <a:latin typeface="Calibri"/>
              </a:rPr>
              <a:t>Coût de réparation chiffré</a:t>
            </a:r>
          </a:p>
          <a:p>
            <a:pPr>
              <a:lnSpc>
                <a:spcPct val="115000"/>
              </a:lnSpc>
              <a:spcAft>
                <a:spcPts val="600"/>
              </a:spcAft>
            </a:pPr>
            <a:r>
              <a:rPr sz="1300" b="1">
                <a:solidFill>
                  <a:srgbClr val="FFFFFF"/>
                </a:solidFill>
                <a:latin typeface="Calibri"/>
              </a:rPr>
              <a:t>•  </a:t>
            </a:r>
            <a:r>
              <a:rPr sz="1300">
                <a:solidFill>
                  <a:srgbClr val="FFFFFF"/>
                </a:solidFill>
                <a:latin typeface="Calibri"/>
              </a:rPr>
              <a:t>Valeur marchande estimée</a:t>
            </a:r>
          </a:p>
          <a:p>
            <a:pPr>
              <a:lnSpc>
                <a:spcPct val="115000"/>
              </a:lnSpc>
              <a:spcAft>
                <a:spcPts val="600"/>
              </a:spcAft>
            </a:pPr>
            <a:r>
              <a:rPr sz="1300" b="1">
                <a:solidFill>
                  <a:srgbClr val="FFFFFF"/>
                </a:solidFill>
                <a:latin typeface="Calibri"/>
              </a:rPr>
              <a:t>•  </a:t>
            </a:r>
            <a:r>
              <a:rPr sz="1300">
                <a:solidFill>
                  <a:srgbClr val="FFFFFF"/>
                </a:solidFill>
                <a:latin typeface="Calibri"/>
              </a:rPr>
              <a:t>Prix d'achat conseillé et argumenté</a:t>
            </a:r>
          </a:p>
        </p:txBody>
      </p:sp>
      <p:sp>
        <p:nvSpPr>
          <p:cNvPr id="10" name="Rounded Rectangle 9"/>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Asymétrie d'information : le vendeur connaît le véhicule, l'acheteur non. On rétablit l'équilibre.</a:t>
            </a:r>
          </a:p>
        </p:txBody>
      </p:sp>
      <p:sp>
        <p:nvSpPr>
          <p:cNvPr id="12" name="TextBox 11"/>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CONCEPT</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De la photo au rapport, une seule chaîne</a:t>
            </a:r>
          </a:p>
        </p:txBody>
      </p:sp>
      <p:sp>
        <p:nvSpPr>
          <p:cNvPr id="4" name="Rounded Rectangle 3"/>
          <p:cNvSpPr/>
          <p:nvPr/>
        </p:nvSpPr>
        <p:spPr>
          <a:xfrm>
            <a:off x="548640" y="1874519"/>
            <a:ext cx="1965960" cy="1417320"/>
          </a:xfrm>
          <a:prstGeom prst="roundRect">
            <a:avLst>
              <a:gd name="adj" fmla="val 10000"/>
            </a:avLst>
          </a:prstGeom>
          <a:solidFill>
            <a:srgbClr val="4C5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74519"/>
            <a:ext cx="1965960" cy="141732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Photo</a:t>
            </a:r>
          </a:p>
        </p:txBody>
      </p:sp>
      <p:sp>
        <p:nvSpPr>
          <p:cNvPr id="6" name="TextBox 5"/>
          <p:cNvSpPr txBox="1"/>
          <p:nvPr/>
        </p:nvSpPr>
        <p:spPr>
          <a:xfrm>
            <a:off x="2496312" y="2354579"/>
            <a:ext cx="457200" cy="457200"/>
          </a:xfrm>
          <a:prstGeom prst="rect">
            <a:avLst/>
          </a:prstGeom>
          <a:noFill/>
        </p:spPr>
        <p:txBody>
          <a:bodyPr wrap="square" lIns="0" rIns="0" tIns="0" bIns="0" anchor="ctr">
            <a:spAutoFit/>
          </a:bodyPr>
          <a:lstStyle/>
          <a:p>
            <a:pPr algn="ctr">
              <a:lnSpc>
                <a:spcPct val="100000"/>
              </a:lnSpc>
            </a:pPr>
            <a:r>
              <a:rPr sz="2200" b="1">
                <a:solidFill>
                  <a:srgbClr val="1B2340"/>
                </a:solidFill>
                <a:latin typeface="Calibri"/>
              </a:rPr>
              <a:t>→</a:t>
            </a:r>
          </a:p>
        </p:txBody>
      </p:sp>
      <p:sp>
        <p:nvSpPr>
          <p:cNvPr id="7" name="Rounded Rectangle 6"/>
          <p:cNvSpPr/>
          <p:nvPr/>
        </p:nvSpPr>
        <p:spPr>
          <a:xfrm>
            <a:off x="2788920" y="1874519"/>
            <a:ext cx="1965960" cy="1417320"/>
          </a:xfrm>
          <a:prstGeom prst="roundRect">
            <a:avLst>
              <a:gd name="adj" fmla="val 10000"/>
            </a:avLst>
          </a:prstGeom>
          <a:solidFill>
            <a:srgbClr val="1B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8920" y="1874519"/>
            <a:ext cx="1965960" cy="141732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Computer</a:t>
            </a:r>
          </a:p>
          <a:p>
            <a:pPr algn="ctr">
              <a:lnSpc>
                <a:spcPct val="100000"/>
              </a:lnSpc>
            </a:pPr>
            <a:r>
              <a:rPr sz="1500" b="1">
                <a:solidFill>
                  <a:srgbClr val="FFFFFF"/>
                </a:solidFill>
                <a:latin typeface="Calibri"/>
              </a:rPr>
              <a:t>Vision</a:t>
            </a:r>
          </a:p>
        </p:txBody>
      </p:sp>
      <p:sp>
        <p:nvSpPr>
          <p:cNvPr id="9" name="TextBox 8"/>
          <p:cNvSpPr txBox="1"/>
          <p:nvPr/>
        </p:nvSpPr>
        <p:spPr>
          <a:xfrm>
            <a:off x="4736592" y="2354579"/>
            <a:ext cx="457200" cy="457200"/>
          </a:xfrm>
          <a:prstGeom prst="rect">
            <a:avLst/>
          </a:prstGeom>
          <a:noFill/>
        </p:spPr>
        <p:txBody>
          <a:bodyPr wrap="square" lIns="0" rIns="0" tIns="0" bIns="0" anchor="ctr">
            <a:spAutoFit/>
          </a:bodyPr>
          <a:lstStyle/>
          <a:p>
            <a:pPr algn="ctr">
              <a:lnSpc>
                <a:spcPct val="100000"/>
              </a:lnSpc>
            </a:pPr>
            <a:r>
              <a:rPr sz="2200" b="1">
                <a:solidFill>
                  <a:srgbClr val="1B2340"/>
                </a:solidFill>
                <a:latin typeface="Calibri"/>
              </a:rPr>
              <a:t>→</a:t>
            </a:r>
          </a:p>
        </p:txBody>
      </p:sp>
      <p:sp>
        <p:nvSpPr>
          <p:cNvPr id="10" name="Rounded Rectangle 9"/>
          <p:cNvSpPr/>
          <p:nvPr/>
        </p:nvSpPr>
        <p:spPr>
          <a:xfrm>
            <a:off x="5029200" y="1874519"/>
            <a:ext cx="1965960" cy="1417320"/>
          </a:xfrm>
          <a:prstGeom prst="roundRect">
            <a:avLst>
              <a:gd name="adj" fmla="val 10000"/>
            </a:avLst>
          </a:prstGeom>
          <a:solidFill>
            <a:srgbClr val="1B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874519"/>
            <a:ext cx="1965960" cy="141732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Machine</a:t>
            </a:r>
          </a:p>
          <a:p>
            <a:pPr algn="ctr">
              <a:lnSpc>
                <a:spcPct val="100000"/>
              </a:lnSpc>
            </a:pPr>
            <a:r>
              <a:rPr sz="1500" b="1">
                <a:solidFill>
                  <a:srgbClr val="FFFFFF"/>
                </a:solidFill>
                <a:latin typeface="Calibri"/>
              </a:rPr>
              <a:t>Learning</a:t>
            </a:r>
          </a:p>
        </p:txBody>
      </p:sp>
      <p:sp>
        <p:nvSpPr>
          <p:cNvPr id="12" name="TextBox 11"/>
          <p:cNvSpPr txBox="1"/>
          <p:nvPr/>
        </p:nvSpPr>
        <p:spPr>
          <a:xfrm>
            <a:off x="6976872" y="2354579"/>
            <a:ext cx="457200" cy="457200"/>
          </a:xfrm>
          <a:prstGeom prst="rect">
            <a:avLst/>
          </a:prstGeom>
          <a:noFill/>
        </p:spPr>
        <p:txBody>
          <a:bodyPr wrap="square" lIns="0" rIns="0" tIns="0" bIns="0" anchor="ctr">
            <a:spAutoFit/>
          </a:bodyPr>
          <a:lstStyle/>
          <a:p>
            <a:pPr algn="ctr">
              <a:lnSpc>
                <a:spcPct val="100000"/>
              </a:lnSpc>
            </a:pPr>
            <a:r>
              <a:rPr sz="2200" b="1">
                <a:solidFill>
                  <a:srgbClr val="1B2340"/>
                </a:solidFill>
                <a:latin typeface="Calibri"/>
              </a:rPr>
              <a:t>→</a:t>
            </a:r>
          </a:p>
        </p:txBody>
      </p:sp>
      <p:sp>
        <p:nvSpPr>
          <p:cNvPr id="13" name="Rounded Rectangle 12"/>
          <p:cNvSpPr/>
          <p:nvPr/>
        </p:nvSpPr>
        <p:spPr>
          <a:xfrm>
            <a:off x="7269479" y="1874519"/>
            <a:ext cx="1965960" cy="1417320"/>
          </a:xfrm>
          <a:prstGeom prst="roundRect">
            <a:avLst>
              <a:gd name="adj" fmla="val 10000"/>
            </a:avLst>
          </a:prstGeom>
          <a:solidFill>
            <a:srgbClr val="1B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79" y="1874519"/>
            <a:ext cx="1965960" cy="141732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Agents</a:t>
            </a:r>
          </a:p>
        </p:txBody>
      </p:sp>
      <p:sp>
        <p:nvSpPr>
          <p:cNvPr id="15" name="TextBox 14"/>
          <p:cNvSpPr txBox="1"/>
          <p:nvPr/>
        </p:nvSpPr>
        <p:spPr>
          <a:xfrm>
            <a:off x="9217152" y="2354579"/>
            <a:ext cx="457200" cy="457200"/>
          </a:xfrm>
          <a:prstGeom prst="rect">
            <a:avLst/>
          </a:prstGeom>
          <a:noFill/>
        </p:spPr>
        <p:txBody>
          <a:bodyPr wrap="square" lIns="0" rIns="0" tIns="0" bIns="0" anchor="ctr">
            <a:spAutoFit/>
          </a:bodyPr>
          <a:lstStyle/>
          <a:p>
            <a:pPr algn="ctr">
              <a:lnSpc>
                <a:spcPct val="100000"/>
              </a:lnSpc>
            </a:pPr>
            <a:r>
              <a:rPr sz="2200" b="1">
                <a:solidFill>
                  <a:srgbClr val="1B2340"/>
                </a:solidFill>
                <a:latin typeface="Calibri"/>
              </a:rPr>
              <a:t>→</a:t>
            </a:r>
          </a:p>
        </p:txBody>
      </p:sp>
      <p:sp>
        <p:nvSpPr>
          <p:cNvPr id="16" name="Rounded Rectangle 15"/>
          <p:cNvSpPr/>
          <p:nvPr/>
        </p:nvSpPr>
        <p:spPr>
          <a:xfrm>
            <a:off x="9509759" y="1874519"/>
            <a:ext cx="1965960" cy="1417320"/>
          </a:xfrm>
          <a:prstGeom prst="roundRect">
            <a:avLst>
              <a:gd name="adj" fmla="val 10000"/>
            </a:avLst>
          </a:prstGeom>
          <a:solidFill>
            <a:srgbClr val="2E9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59" y="1874519"/>
            <a:ext cx="1965960" cy="141732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Rapport</a:t>
            </a:r>
          </a:p>
          <a:p>
            <a:pPr algn="ctr">
              <a:lnSpc>
                <a:spcPct val="100000"/>
              </a:lnSpc>
            </a:pPr>
            <a:r>
              <a:rPr sz="1500" b="1">
                <a:solidFill>
                  <a:srgbClr val="FFFFFF"/>
                </a:solidFill>
                <a:latin typeface="Calibri"/>
              </a:rPr>
              <a:t>+ Prix</a:t>
            </a:r>
          </a:p>
        </p:txBody>
      </p:sp>
      <p:sp>
        <p:nvSpPr>
          <p:cNvPr id="18" name="TextBox 17"/>
          <p:cNvSpPr txBox="1"/>
          <p:nvPr/>
        </p:nvSpPr>
        <p:spPr>
          <a:xfrm>
            <a:off x="548640" y="3794760"/>
            <a:ext cx="10058400" cy="32004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UN MÊME SOCLE, PLUSIEURS PUBLICS</a:t>
            </a:r>
          </a:p>
        </p:txBody>
      </p:sp>
      <p:sp>
        <p:nvSpPr>
          <p:cNvPr id="19" name="Rounded Rectangle 18"/>
          <p:cNvSpPr/>
          <p:nvPr/>
        </p:nvSpPr>
        <p:spPr>
          <a:xfrm>
            <a:off x="548640" y="4251960"/>
            <a:ext cx="1124712" cy="384048"/>
          </a:xfrm>
          <a:prstGeom prst="roundRect">
            <a:avLst>
              <a:gd name="adj" fmla="val 50000"/>
            </a:avLst>
          </a:prstGeom>
          <a:solidFill>
            <a:srgbClr val="E7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251960"/>
            <a:ext cx="1124712" cy="384048"/>
          </a:xfrm>
          <a:prstGeom prst="rect">
            <a:avLst/>
          </a:prstGeom>
          <a:noFill/>
        </p:spPr>
        <p:txBody>
          <a:bodyPr wrap="square" lIns="0" rIns="0" tIns="0" bIns="0" anchor="ctr">
            <a:spAutoFit/>
          </a:bodyPr>
          <a:lstStyle/>
          <a:p>
            <a:pPr algn="ctr">
              <a:lnSpc>
                <a:spcPct val="100000"/>
              </a:lnSpc>
            </a:pPr>
            <a:r>
              <a:rPr sz="1200" b="1">
                <a:solidFill>
                  <a:srgbClr val="1B2340"/>
                </a:solidFill>
                <a:latin typeface="Calibri"/>
              </a:rPr>
              <a:t>Acheteur</a:t>
            </a:r>
          </a:p>
        </p:txBody>
      </p:sp>
      <p:sp>
        <p:nvSpPr>
          <p:cNvPr id="21" name="Rounded Rectangle 20"/>
          <p:cNvSpPr/>
          <p:nvPr/>
        </p:nvSpPr>
        <p:spPr>
          <a:xfrm>
            <a:off x="1901952" y="4251960"/>
            <a:ext cx="1024128" cy="384048"/>
          </a:xfrm>
          <a:prstGeom prst="roundRect">
            <a:avLst>
              <a:gd name="adj" fmla="val 50000"/>
            </a:avLst>
          </a:prstGeom>
          <a:solidFill>
            <a:srgbClr val="E7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1952" y="4251960"/>
            <a:ext cx="1024128" cy="384048"/>
          </a:xfrm>
          <a:prstGeom prst="rect">
            <a:avLst/>
          </a:prstGeom>
          <a:noFill/>
        </p:spPr>
        <p:txBody>
          <a:bodyPr wrap="square" lIns="0" rIns="0" tIns="0" bIns="0" anchor="ctr">
            <a:spAutoFit/>
          </a:bodyPr>
          <a:lstStyle/>
          <a:p>
            <a:pPr algn="ctr">
              <a:lnSpc>
                <a:spcPct val="100000"/>
              </a:lnSpc>
            </a:pPr>
            <a:r>
              <a:rPr sz="1200" b="1">
                <a:solidFill>
                  <a:srgbClr val="1B2340"/>
                </a:solidFill>
                <a:latin typeface="Calibri"/>
              </a:rPr>
              <a:t>Vendeur</a:t>
            </a:r>
          </a:p>
        </p:txBody>
      </p:sp>
      <p:sp>
        <p:nvSpPr>
          <p:cNvPr id="23" name="Rounded Rectangle 22"/>
          <p:cNvSpPr/>
          <p:nvPr/>
        </p:nvSpPr>
        <p:spPr>
          <a:xfrm>
            <a:off x="3154680" y="4251960"/>
            <a:ext cx="1929384" cy="384048"/>
          </a:xfrm>
          <a:prstGeom prst="roundRect">
            <a:avLst>
              <a:gd name="adj" fmla="val 50000"/>
            </a:avLst>
          </a:prstGeom>
          <a:solidFill>
            <a:srgbClr val="E7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54680" y="4251960"/>
            <a:ext cx="1929384" cy="384048"/>
          </a:xfrm>
          <a:prstGeom prst="rect">
            <a:avLst/>
          </a:prstGeom>
          <a:noFill/>
        </p:spPr>
        <p:txBody>
          <a:bodyPr wrap="square" lIns="0" rIns="0" tIns="0" bIns="0" anchor="ctr">
            <a:spAutoFit/>
          </a:bodyPr>
          <a:lstStyle/>
          <a:p>
            <a:pPr algn="ctr">
              <a:lnSpc>
                <a:spcPct val="100000"/>
              </a:lnSpc>
            </a:pPr>
            <a:r>
              <a:rPr sz="1200" b="1">
                <a:solidFill>
                  <a:srgbClr val="1B2340"/>
                </a:solidFill>
                <a:latin typeface="Calibri"/>
              </a:rPr>
              <a:t>Garage / reprise</a:t>
            </a:r>
          </a:p>
        </p:txBody>
      </p:sp>
      <p:sp>
        <p:nvSpPr>
          <p:cNvPr id="25" name="Rounded Rectangle 24"/>
          <p:cNvSpPr/>
          <p:nvPr/>
        </p:nvSpPr>
        <p:spPr>
          <a:xfrm>
            <a:off x="5312664" y="4251960"/>
            <a:ext cx="1124712" cy="384048"/>
          </a:xfrm>
          <a:prstGeom prst="roundRect">
            <a:avLst>
              <a:gd name="adj" fmla="val 50000"/>
            </a:avLst>
          </a:prstGeom>
          <a:solidFill>
            <a:srgbClr val="E7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12664" y="4251960"/>
            <a:ext cx="1124712" cy="384048"/>
          </a:xfrm>
          <a:prstGeom prst="rect">
            <a:avLst/>
          </a:prstGeom>
          <a:noFill/>
        </p:spPr>
        <p:txBody>
          <a:bodyPr wrap="square" lIns="0" rIns="0" tIns="0" bIns="0" anchor="ctr">
            <a:spAutoFit/>
          </a:bodyPr>
          <a:lstStyle/>
          <a:p>
            <a:pPr algn="ctr">
              <a:lnSpc>
                <a:spcPct val="100000"/>
              </a:lnSpc>
            </a:pPr>
            <a:r>
              <a:rPr sz="1200" b="1">
                <a:solidFill>
                  <a:srgbClr val="1B2340"/>
                </a:solidFill>
                <a:latin typeface="Calibri"/>
              </a:rPr>
              <a:t>Assureur</a:t>
            </a:r>
          </a:p>
        </p:txBody>
      </p:sp>
      <p:sp>
        <p:nvSpPr>
          <p:cNvPr id="27" name="Rounded Rectangle 26"/>
          <p:cNvSpPr/>
          <p:nvPr/>
        </p:nvSpPr>
        <p:spPr>
          <a:xfrm>
            <a:off x="6665976" y="4251960"/>
            <a:ext cx="2029968" cy="384048"/>
          </a:xfrm>
          <a:prstGeom prst="roundRect">
            <a:avLst>
              <a:gd name="adj" fmla="val 50000"/>
            </a:avLst>
          </a:prstGeom>
          <a:solidFill>
            <a:srgbClr val="E7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65976" y="4251960"/>
            <a:ext cx="2029968" cy="384048"/>
          </a:xfrm>
          <a:prstGeom prst="rect">
            <a:avLst/>
          </a:prstGeom>
          <a:noFill/>
        </p:spPr>
        <p:txBody>
          <a:bodyPr wrap="square" lIns="0" rIns="0" tIns="0" bIns="0" anchor="ctr">
            <a:spAutoFit/>
          </a:bodyPr>
          <a:lstStyle/>
          <a:p>
            <a:pPr algn="ctr">
              <a:lnSpc>
                <a:spcPct val="100000"/>
              </a:lnSpc>
            </a:pPr>
            <a:r>
              <a:rPr sz="1200" b="1">
                <a:solidFill>
                  <a:srgbClr val="1B2340"/>
                </a:solidFill>
                <a:latin typeface="Calibri"/>
              </a:rPr>
              <a:t>Gestion de flotte</a:t>
            </a:r>
          </a:p>
        </p:txBody>
      </p:sp>
      <p:sp>
        <p:nvSpPr>
          <p:cNvPr id="29" name="Rounded Rectangle 28"/>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Le même pipeline sert cinq cas d'usage : c'est un produit, pas une démo jetable.</a:t>
            </a:r>
          </a:p>
        </p:txBody>
      </p:sp>
      <p:sp>
        <p:nvSpPr>
          <p:cNvPr id="31" name="TextBox 30"/>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CE QUE LE PROJET DÉMONTRE</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Les 4 capacités Azure exigées</a:t>
            </a:r>
          </a:p>
        </p:txBody>
      </p:sp>
      <p:sp>
        <p:nvSpPr>
          <p:cNvPr id="4" name="Rounded Rectangle 3"/>
          <p:cNvSpPr/>
          <p:nvPr/>
        </p:nvSpPr>
        <p:spPr>
          <a:xfrm>
            <a:off x="548640" y="1691640"/>
            <a:ext cx="2587752" cy="3566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58468" y="2011680"/>
            <a:ext cx="768096" cy="768096"/>
          </a:xfrm>
          <a:prstGeom prst="roundRect">
            <a:avLst>
              <a:gd name="adj" fmla="val 12000"/>
            </a:avLst>
          </a:prstGeom>
          <a:solidFill>
            <a:srgbClr val="4C5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58468" y="2011680"/>
            <a:ext cx="768096" cy="768096"/>
          </a:xfrm>
          <a:prstGeom prst="rect">
            <a:avLst/>
          </a:prstGeom>
          <a:noFill/>
        </p:spPr>
        <p:txBody>
          <a:bodyPr wrap="square" lIns="0" rIns="0" tIns="0" bIns="0" anchor="ctr">
            <a:spAutoFit/>
          </a:bodyPr>
          <a:lstStyle/>
          <a:p>
            <a:pPr algn="ctr">
              <a:lnSpc>
                <a:spcPct val="100000"/>
              </a:lnSpc>
            </a:pPr>
            <a:r>
              <a:rPr sz="2600" b="1">
                <a:solidFill>
                  <a:srgbClr val="FFFFFF"/>
                </a:solidFill>
                <a:latin typeface="Calibri"/>
              </a:rPr>
              <a:t>1</a:t>
            </a:r>
          </a:p>
        </p:txBody>
      </p:sp>
      <p:sp>
        <p:nvSpPr>
          <p:cNvPr id="7" name="TextBox 6"/>
          <p:cNvSpPr txBox="1"/>
          <p:nvPr/>
        </p:nvSpPr>
        <p:spPr>
          <a:xfrm>
            <a:off x="685800" y="3017520"/>
            <a:ext cx="2313432" cy="548640"/>
          </a:xfrm>
          <a:prstGeom prst="rect">
            <a:avLst/>
          </a:prstGeom>
          <a:noFill/>
        </p:spPr>
        <p:txBody>
          <a:bodyPr wrap="square" lIns="0" rIns="0" tIns="0" bIns="0" anchor="t">
            <a:spAutoFit/>
          </a:bodyPr>
          <a:lstStyle/>
          <a:p>
            <a:pPr algn="ctr">
              <a:lnSpc>
                <a:spcPct val="100000"/>
              </a:lnSpc>
            </a:pPr>
            <a:r>
              <a:rPr sz="1400" b="1">
                <a:solidFill>
                  <a:srgbClr val="232741"/>
                </a:solidFill>
                <a:latin typeface="Calibri"/>
              </a:rPr>
              <a:t>COGNITIF</a:t>
            </a:r>
          </a:p>
        </p:txBody>
      </p:sp>
      <p:sp>
        <p:nvSpPr>
          <p:cNvPr id="8" name="TextBox 7"/>
          <p:cNvSpPr txBox="1"/>
          <p:nvPr/>
        </p:nvSpPr>
        <p:spPr>
          <a:xfrm>
            <a:off x="685800" y="3566160"/>
            <a:ext cx="2313432" cy="457200"/>
          </a:xfrm>
          <a:prstGeom prst="rect">
            <a:avLst/>
          </a:prstGeom>
          <a:noFill/>
        </p:spPr>
        <p:txBody>
          <a:bodyPr wrap="square" lIns="0" rIns="0" tIns="0" bIns="0" anchor="t">
            <a:spAutoFit/>
          </a:bodyPr>
          <a:lstStyle/>
          <a:p>
            <a:pPr algn="ctr">
              <a:lnSpc>
                <a:spcPct val="100000"/>
              </a:lnSpc>
            </a:pPr>
            <a:r>
              <a:rPr sz="1300" b="1">
                <a:solidFill>
                  <a:srgbClr val="4C5FD9"/>
                </a:solidFill>
                <a:latin typeface="Calibri"/>
              </a:rPr>
              <a:t>Azure Computer Vision</a:t>
            </a:r>
          </a:p>
        </p:txBody>
      </p:sp>
      <p:sp>
        <p:nvSpPr>
          <p:cNvPr id="9" name="TextBox 8"/>
          <p:cNvSpPr txBox="1"/>
          <p:nvPr/>
        </p:nvSpPr>
        <p:spPr>
          <a:xfrm>
            <a:off x="685800" y="4023360"/>
            <a:ext cx="2313432" cy="1005840"/>
          </a:xfrm>
          <a:prstGeom prst="rect">
            <a:avLst/>
          </a:prstGeom>
          <a:noFill/>
        </p:spPr>
        <p:txBody>
          <a:bodyPr wrap="square" lIns="0" rIns="0" tIns="0" bIns="0" anchor="t">
            <a:spAutoFit/>
          </a:bodyPr>
          <a:lstStyle/>
          <a:p>
            <a:pPr algn="ctr">
              <a:lnSpc>
                <a:spcPct val="110000"/>
              </a:lnSpc>
            </a:pPr>
            <a:r>
              <a:rPr sz="1200" b="0">
                <a:solidFill>
                  <a:srgbClr val="6B7280"/>
                </a:solidFill>
                <a:latin typeface="Calibri"/>
              </a:rPr>
              <a:t>Détection de l'état du véhicule sur photo</a:t>
            </a:r>
          </a:p>
        </p:txBody>
      </p:sp>
      <p:sp>
        <p:nvSpPr>
          <p:cNvPr id="10" name="Rounded Rectangle 9"/>
          <p:cNvSpPr/>
          <p:nvPr/>
        </p:nvSpPr>
        <p:spPr>
          <a:xfrm>
            <a:off x="3371392" y="1691640"/>
            <a:ext cx="2587752" cy="3566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81220" y="2011680"/>
            <a:ext cx="768096" cy="768096"/>
          </a:xfrm>
          <a:prstGeom prst="roundRect">
            <a:avLst>
              <a:gd name="adj" fmla="val 12000"/>
            </a:avLst>
          </a:prstGeom>
          <a:solidFill>
            <a:srgbClr val="2E9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1220" y="2011680"/>
            <a:ext cx="768096" cy="768096"/>
          </a:xfrm>
          <a:prstGeom prst="rect">
            <a:avLst/>
          </a:prstGeom>
          <a:noFill/>
        </p:spPr>
        <p:txBody>
          <a:bodyPr wrap="square" lIns="0" rIns="0" tIns="0" bIns="0" anchor="ctr">
            <a:spAutoFit/>
          </a:bodyPr>
          <a:lstStyle/>
          <a:p>
            <a:pPr algn="ctr">
              <a:lnSpc>
                <a:spcPct val="100000"/>
              </a:lnSpc>
            </a:pPr>
            <a:r>
              <a:rPr sz="2600" b="1">
                <a:solidFill>
                  <a:srgbClr val="FFFFFF"/>
                </a:solidFill>
                <a:latin typeface="Calibri"/>
              </a:rPr>
              <a:t>2</a:t>
            </a:r>
          </a:p>
        </p:txBody>
      </p:sp>
      <p:sp>
        <p:nvSpPr>
          <p:cNvPr id="13" name="TextBox 12"/>
          <p:cNvSpPr txBox="1"/>
          <p:nvPr/>
        </p:nvSpPr>
        <p:spPr>
          <a:xfrm>
            <a:off x="3508552" y="3017520"/>
            <a:ext cx="2313432" cy="548640"/>
          </a:xfrm>
          <a:prstGeom prst="rect">
            <a:avLst/>
          </a:prstGeom>
          <a:noFill/>
        </p:spPr>
        <p:txBody>
          <a:bodyPr wrap="square" lIns="0" rIns="0" tIns="0" bIns="0" anchor="t">
            <a:spAutoFit/>
          </a:bodyPr>
          <a:lstStyle/>
          <a:p>
            <a:pPr algn="ctr">
              <a:lnSpc>
                <a:spcPct val="100000"/>
              </a:lnSpc>
            </a:pPr>
            <a:r>
              <a:rPr sz="1400" b="1">
                <a:solidFill>
                  <a:srgbClr val="232741"/>
                </a:solidFill>
                <a:latin typeface="Calibri"/>
              </a:rPr>
              <a:t>EDGE</a:t>
            </a:r>
          </a:p>
        </p:txBody>
      </p:sp>
      <p:sp>
        <p:nvSpPr>
          <p:cNvPr id="14" name="TextBox 13"/>
          <p:cNvSpPr txBox="1"/>
          <p:nvPr/>
        </p:nvSpPr>
        <p:spPr>
          <a:xfrm>
            <a:off x="3508552" y="3566160"/>
            <a:ext cx="2313432" cy="457200"/>
          </a:xfrm>
          <a:prstGeom prst="rect">
            <a:avLst/>
          </a:prstGeom>
          <a:noFill/>
        </p:spPr>
        <p:txBody>
          <a:bodyPr wrap="square" lIns="0" rIns="0" tIns="0" bIns="0" anchor="t">
            <a:spAutoFit/>
          </a:bodyPr>
          <a:lstStyle/>
          <a:p>
            <a:pPr algn="ctr">
              <a:lnSpc>
                <a:spcPct val="100000"/>
              </a:lnSpc>
            </a:pPr>
            <a:r>
              <a:rPr sz="1300" b="1">
                <a:solidFill>
                  <a:srgbClr val="2E9E64"/>
                </a:solidFill>
                <a:latin typeface="Calibri"/>
              </a:rPr>
              <a:t>Docker en local</a:t>
            </a:r>
          </a:p>
        </p:txBody>
      </p:sp>
      <p:sp>
        <p:nvSpPr>
          <p:cNvPr id="15" name="TextBox 14"/>
          <p:cNvSpPr txBox="1"/>
          <p:nvPr/>
        </p:nvSpPr>
        <p:spPr>
          <a:xfrm>
            <a:off x="3508552" y="4023360"/>
            <a:ext cx="2313432" cy="1005840"/>
          </a:xfrm>
          <a:prstGeom prst="rect">
            <a:avLst/>
          </a:prstGeom>
          <a:noFill/>
        </p:spPr>
        <p:txBody>
          <a:bodyPr wrap="square" lIns="0" rIns="0" tIns="0" bIns="0" anchor="t">
            <a:spAutoFit/>
          </a:bodyPr>
          <a:lstStyle/>
          <a:p>
            <a:pPr algn="ctr">
              <a:lnSpc>
                <a:spcPct val="110000"/>
              </a:lnSpc>
            </a:pPr>
            <a:r>
              <a:rPr sz="1200" b="0">
                <a:solidFill>
                  <a:srgbClr val="6B7280"/>
                </a:solidFill>
                <a:latin typeface="Calibri"/>
              </a:rPr>
              <a:t>La webapp tourne sur le laptop</a:t>
            </a:r>
          </a:p>
        </p:txBody>
      </p:sp>
      <p:sp>
        <p:nvSpPr>
          <p:cNvPr id="16" name="Rounded Rectangle 15"/>
          <p:cNvSpPr/>
          <p:nvPr/>
        </p:nvSpPr>
        <p:spPr>
          <a:xfrm>
            <a:off x="6194145" y="1691640"/>
            <a:ext cx="2587752" cy="3566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03973" y="2011680"/>
            <a:ext cx="768096" cy="768096"/>
          </a:xfrm>
          <a:prstGeom prst="roundRect">
            <a:avLst>
              <a:gd name="adj" fmla="val 12000"/>
            </a:avLst>
          </a:prstGeom>
          <a:solidFill>
            <a:srgbClr val="1B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03973" y="2011680"/>
            <a:ext cx="768096" cy="768096"/>
          </a:xfrm>
          <a:prstGeom prst="rect">
            <a:avLst/>
          </a:prstGeom>
          <a:noFill/>
        </p:spPr>
        <p:txBody>
          <a:bodyPr wrap="square" lIns="0" rIns="0" tIns="0" bIns="0" anchor="ctr">
            <a:spAutoFit/>
          </a:bodyPr>
          <a:lstStyle/>
          <a:p>
            <a:pPr algn="ctr">
              <a:lnSpc>
                <a:spcPct val="100000"/>
              </a:lnSpc>
            </a:pPr>
            <a:r>
              <a:rPr sz="2600" b="1">
                <a:solidFill>
                  <a:srgbClr val="FFFFFF"/>
                </a:solidFill>
                <a:latin typeface="Calibri"/>
              </a:rPr>
              <a:t>3</a:t>
            </a:r>
          </a:p>
        </p:txBody>
      </p:sp>
      <p:sp>
        <p:nvSpPr>
          <p:cNvPr id="19" name="TextBox 18"/>
          <p:cNvSpPr txBox="1"/>
          <p:nvPr/>
        </p:nvSpPr>
        <p:spPr>
          <a:xfrm>
            <a:off x="6331305" y="3017520"/>
            <a:ext cx="2313432" cy="548640"/>
          </a:xfrm>
          <a:prstGeom prst="rect">
            <a:avLst/>
          </a:prstGeom>
          <a:noFill/>
        </p:spPr>
        <p:txBody>
          <a:bodyPr wrap="square" lIns="0" rIns="0" tIns="0" bIns="0" anchor="t">
            <a:spAutoFit/>
          </a:bodyPr>
          <a:lstStyle/>
          <a:p>
            <a:pPr algn="ctr">
              <a:lnSpc>
                <a:spcPct val="100000"/>
              </a:lnSpc>
            </a:pPr>
            <a:r>
              <a:rPr sz="1400" b="1">
                <a:solidFill>
                  <a:srgbClr val="232741"/>
                </a:solidFill>
                <a:latin typeface="Calibri"/>
              </a:rPr>
              <a:t>MACHINE LEARNING</a:t>
            </a:r>
          </a:p>
        </p:txBody>
      </p:sp>
      <p:sp>
        <p:nvSpPr>
          <p:cNvPr id="20" name="TextBox 19"/>
          <p:cNvSpPr txBox="1"/>
          <p:nvPr/>
        </p:nvSpPr>
        <p:spPr>
          <a:xfrm>
            <a:off x="6331305" y="3566160"/>
            <a:ext cx="2313432" cy="457200"/>
          </a:xfrm>
          <a:prstGeom prst="rect">
            <a:avLst/>
          </a:prstGeom>
          <a:noFill/>
        </p:spPr>
        <p:txBody>
          <a:bodyPr wrap="square" lIns="0" rIns="0" tIns="0" bIns="0" anchor="t">
            <a:spAutoFit/>
          </a:bodyPr>
          <a:lstStyle/>
          <a:p>
            <a:pPr algn="ctr">
              <a:lnSpc>
                <a:spcPct val="100000"/>
              </a:lnSpc>
            </a:pPr>
            <a:r>
              <a:rPr sz="1300" b="1">
                <a:solidFill>
                  <a:srgbClr val="1B2340"/>
                </a:solidFill>
                <a:latin typeface="Calibri"/>
              </a:rPr>
              <a:t>Azure ML</a:t>
            </a:r>
          </a:p>
        </p:txBody>
      </p:sp>
      <p:sp>
        <p:nvSpPr>
          <p:cNvPr id="21" name="TextBox 20"/>
          <p:cNvSpPr txBox="1"/>
          <p:nvPr/>
        </p:nvSpPr>
        <p:spPr>
          <a:xfrm>
            <a:off x="6331305" y="4023360"/>
            <a:ext cx="2313432" cy="1005840"/>
          </a:xfrm>
          <a:prstGeom prst="rect">
            <a:avLst/>
          </a:prstGeom>
          <a:noFill/>
        </p:spPr>
        <p:txBody>
          <a:bodyPr wrap="square" lIns="0" rIns="0" tIns="0" bIns="0" anchor="t">
            <a:spAutoFit/>
          </a:bodyPr>
          <a:lstStyle/>
          <a:p>
            <a:pPr algn="ctr">
              <a:lnSpc>
                <a:spcPct val="110000"/>
              </a:lnSpc>
            </a:pPr>
            <a:r>
              <a:rPr sz="1200" b="0">
                <a:solidFill>
                  <a:srgbClr val="6B7280"/>
                </a:solidFill>
                <a:latin typeface="Calibri"/>
              </a:rPr>
              <a:t>Coût de réparation + valeur marchande</a:t>
            </a:r>
          </a:p>
        </p:txBody>
      </p:sp>
      <p:sp>
        <p:nvSpPr>
          <p:cNvPr id="22" name="Rounded Rectangle 21"/>
          <p:cNvSpPr/>
          <p:nvPr/>
        </p:nvSpPr>
        <p:spPr>
          <a:xfrm>
            <a:off x="9016898" y="1691640"/>
            <a:ext cx="2587752" cy="3566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926726" y="2011680"/>
            <a:ext cx="768096" cy="768096"/>
          </a:xfrm>
          <a:prstGeom prst="roundRect">
            <a:avLst>
              <a:gd name="adj" fmla="val 12000"/>
            </a:avLst>
          </a:prstGeom>
          <a:solidFill>
            <a:srgbClr val="E5B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6726" y="2011680"/>
            <a:ext cx="768096" cy="768096"/>
          </a:xfrm>
          <a:prstGeom prst="rect">
            <a:avLst/>
          </a:prstGeom>
          <a:noFill/>
        </p:spPr>
        <p:txBody>
          <a:bodyPr wrap="square" lIns="0" rIns="0" tIns="0" bIns="0" anchor="ctr">
            <a:spAutoFit/>
          </a:bodyPr>
          <a:lstStyle/>
          <a:p>
            <a:pPr algn="ctr">
              <a:lnSpc>
                <a:spcPct val="100000"/>
              </a:lnSpc>
            </a:pPr>
            <a:r>
              <a:rPr sz="2600" b="1">
                <a:solidFill>
                  <a:srgbClr val="FFFFFF"/>
                </a:solidFill>
                <a:latin typeface="Calibri"/>
              </a:rPr>
              <a:t>4</a:t>
            </a:r>
          </a:p>
        </p:txBody>
      </p:sp>
      <p:sp>
        <p:nvSpPr>
          <p:cNvPr id="25" name="TextBox 24"/>
          <p:cNvSpPr txBox="1"/>
          <p:nvPr/>
        </p:nvSpPr>
        <p:spPr>
          <a:xfrm>
            <a:off x="9154058" y="3017520"/>
            <a:ext cx="2313432" cy="548640"/>
          </a:xfrm>
          <a:prstGeom prst="rect">
            <a:avLst/>
          </a:prstGeom>
          <a:noFill/>
        </p:spPr>
        <p:txBody>
          <a:bodyPr wrap="square" lIns="0" rIns="0" tIns="0" bIns="0" anchor="t">
            <a:spAutoFit/>
          </a:bodyPr>
          <a:lstStyle/>
          <a:p>
            <a:pPr algn="ctr">
              <a:lnSpc>
                <a:spcPct val="100000"/>
              </a:lnSpc>
            </a:pPr>
            <a:r>
              <a:rPr sz="1400" b="1">
                <a:solidFill>
                  <a:srgbClr val="232741"/>
                </a:solidFill>
                <a:latin typeface="Calibri"/>
              </a:rPr>
              <a:t>AGENTIQUE</a:t>
            </a:r>
          </a:p>
        </p:txBody>
      </p:sp>
      <p:sp>
        <p:nvSpPr>
          <p:cNvPr id="26" name="TextBox 25"/>
          <p:cNvSpPr txBox="1"/>
          <p:nvPr/>
        </p:nvSpPr>
        <p:spPr>
          <a:xfrm>
            <a:off x="9154058" y="3566160"/>
            <a:ext cx="2313432" cy="457200"/>
          </a:xfrm>
          <a:prstGeom prst="rect">
            <a:avLst/>
          </a:prstGeom>
          <a:noFill/>
        </p:spPr>
        <p:txBody>
          <a:bodyPr wrap="square" lIns="0" rIns="0" tIns="0" bIns="0" anchor="t">
            <a:spAutoFit/>
          </a:bodyPr>
          <a:lstStyle/>
          <a:p>
            <a:pPr algn="ctr">
              <a:lnSpc>
                <a:spcPct val="100000"/>
              </a:lnSpc>
            </a:pPr>
            <a:r>
              <a:rPr sz="1300" b="1">
                <a:solidFill>
                  <a:srgbClr val="E5B44B"/>
                </a:solidFill>
                <a:latin typeface="Calibri"/>
              </a:rPr>
              <a:t>Agents + LLM local</a:t>
            </a:r>
          </a:p>
        </p:txBody>
      </p:sp>
      <p:sp>
        <p:nvSpPr>
          <p:cNvPr id="27" name="TextBox 26"/>
          <p:cNvSpPr txBox="1"/>
          <p:nvPr/>
        </p:nvSpPr>
        <p:spPr>
          <a:xfrm>
            <a:off x="9154058" y="4023360"/>
            <a:ext cx="2313432" cy="1005840"/>
          </a:xfrm>
          <a:prstGeom prst="rect">
            <a:avLst/>
          </a:prstGeom>
          <a:noFill/>
        </p:spPr>
        <p:txBody>
          <a:bodyPr wrap="square" lIns="0" rIns="0" tIns="0" bIns="0" anchor="t">
            <a:spAutoFit/>
          </a:bodyPr>
          <a:lstStyle/>
          <a:p>
            <a:pPr algn="ctr">
              <a:lnSpc>
                <a:spcPct val="110000"/>
              </a:lnSpc>
            </a:pPr>
            <a:r>
              <a:rPr sz="1200" b="0">
                <a:solidFill>
                  <a:srgbClr val="6B7280"/>
                </a:solidFill>
                <a:latin typeface="Calibri"/>
              </a:rPr>
              <a:t>Orchestrateur + 3 sous-agents</a:t>
            </a:r>
          </a:p>
        </p:txBody>
      </p:sp>
      <p:sp>
        <p:nvSpPr>
          <p:cNvPr id="28" name="Rounded Rectangle 27"/>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Un cas d'usage réel qui réunit les quatre briques du cours.</a:t>
            </a:r>
          </a:p>
        </p:txBody>
      </p:sp>
      <p:sp>
        <p:nvSpPr>
          <p:cNvPr id="30" name="TextBox 29"/>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ARCHITECTURE</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Architecture d'ensemble</a:t>
            </a:r>
          </a:p>
        </p:txBody>
      </p:sp>
      <p:sp>
        <p:nvSpPr>
          <p:cNvPr id="4" name="Rounded Rectangle 3"/>
          <p:cNvSpPr/>
          <p:nvPr/>
        </p:nvSpPr>
        <p:spPr>
          <a:xfrm>
            <a:off x="3712464" y="1536192"/>
            <a:ext cx="4754880" cy="548640"/>
          </a:xfrm>
          <a:prstGeom prst="roundRect">
            <a:avLst>
              <a:gd name="adj" fmla="val 12000"/>
            </a:avLst>
          </a:prstGeom>
          <a:solidFill>
            <a:srgbClr val="1B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03904" y="1536192"/>
            <a:ext cx="4572000" cy="54864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Utilisateur  —  photos / vidéo du véhicule</a:t>
            </a:r>
          </a:p>
        </p:txBody>
      </p:sp>
      <p:cxnSp>
        <p:nvCxnSpPr>
          <p:cNvPr id="6" name="Connector 5"/>
          <p:cNvCxnSpPr/>
          <p:nvPr/>
        </p:nvCxnSpPr>
        <p:spPr>
          <a:xfrm>
            <a:off x="6089904" y="2084831"/>
            <a:ext cx="0" cy="219457"/>
          </a:xfrm>
          <a:prstGeom prst="bentConnector3">
            <a:avLst/>
          </a:prstGeom>
          <a:ln w="19050">
            <a:solidFill>
              <a:srgbClr val="9AA4C0"/>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072384" y="2304288"/>
            <a:ext cx="6035040" cy="548640"/>
          </a:xfrm>
          <a:prstGeom prst="roundRect">
            <a:avLst>
              <a:gd name="adj" fmla="val 12000"/>
            </a:avLst>
          </a:prstGeom>
          <a:solidFill>
            <a:srgbClr val="2E9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63824" y="2304288"/>
            <a:ext cx="5852159" cy="54864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Application web locale  —  Docker (Edge)</a:t>
            </a:r>
          </a:p>
        </p:txBody>
      </p:sp>
      <p:cxnSp>
        <p:nvCxnSpPr>
          <p:cNvPr id="9" name="Connector 8"/>
          <p:cNvCxnSpPr/>
          <p:nvPr/>
        </p:nvCxnSpPr>
        <p:spPr>
          <a:xfrm>
            <a:off x="6089904" y="2852928"/>
            <a:ext cx="0" cy="219456"/>
          </a:xfrm>
          <a:prstGeom prst="bentConnector3">
            <a:avLst/>
          </a:prstGeom>
          <a:ln w="19050">
            <a:solidFill>
              <a:srgbClr val="9AA4C0"/>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895344" y="3072384"/>
            <a:ext cx="4389120" cy="548640"/>
          </a:xfrm>
          <a:prstGeom prst="roundRect">
            <a:avLst>
              <a:gd name="adj" fmla="val 12000"/>
            </a:avLst>
          </a:prstGeom>
          <a:solidFill>
            <a:srgbClr val="4C5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86783" y="3072384"/>
            <a:ext cx="4206240" cy="548640"/>
          </a:xfrm>
          <a:prstGeom prst="rect">
            <a:avLst/>
          </a:prstGeom>
          <a:noFill/>
        </p:spPr>
        <p:txBody>
          <a:bodyPr wrap="square" lIns="0" rIns="0" tIns="0" bIns="0" anchor="ctr">
            <a:spAutoFit/>
          </a:bodyPr>
          <a:lstStyle/>
          <a:p>
            <a:pPr algn="ctr">
              <a:lnSpc>
                <a:spcPct val="100000"/>
              </a:lnSpc>
            </a:pPr>
            <a:r>
              <a:rPr sz="1400" b="1">
                <a:solidFill>
                  <a:srgbClr val="FFFFFF"/>
                </a:solidFill>
                <a:latin typeface="Calibri"/>
              </a:rPr>
              <a:t>Agent orchestrateur</a:t>
            </a:r>
          </a:p>
        </p:txBody>
      </p:sp>
      <p:cxnSp>
        <p:nvCxnSpPr>
          <p:cNvPr id="12" name="Connector 11"/>
          <p:cNvCxnSpPr/>
          <p:nvPr/>
        </p:nvCxnSpPr>
        <p:spPr>
          <a:xfrm flipH="1">
            <a:off x="2499360" y="3621024"/>
            <a:ext cx="3590544" cy="292608"/>
          </a:xfrm>
          <a:prstGeom prst="bentConnector3">
            <a:avLst/>
          </a:prstGeom>
          <a:ln w="19050">
            <a:solidFill>
              <a:srgbClr val="9AA4C0"/>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3913632"/>
            <a:ext cx="3352800" cy="548640"/>
          </a:xfrm>
          <a:prstGeom prst="roundRect">
            <a:avLst>
              <a:gd name="adj" fmla="val 12000"/>
            </a:avLst>
          </a:prstGeom>
          <a:solidFill>
            <a:srgbClr val="FFFFFF"/>
          </a:solidFill>
          <a:ln w="19050">
            <a:solidFill>
              <a:srgbClr val="2E9E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13632"/>
            <a:ext cx="3169919" cy="548640"/>
          </a:xfrm>
          <a:prstGeom prst="rect">
            <a:avLst/>
          </a:prstGeom>
          <a:noFill/>
        </p:spPr>
        <p:txBody>
          <a:bodyPr wrap="square" lIns="0" rIns="0" tIns="0" bIns="0" anchor="ctr">
            <a:spAutoFit/>
          </a:bodyPr>
          <a:lstStyle/>
          <a:p>
            <a:pPr algn="ctr">
              <a:lnSpc>
                <a:spcPct val="100000"/>
              </a:lnSpc>
            </a:pPr>
            <a:r>
              <a:rPr sz="1250" b="1">
                <a:solidFill>
                  <a:srgbClr val="232741"/>
                </a:solidFill>
                <a:latin typeface="Calibri"/>
              </a:rPr>
              <a:t>Éval. mécanique</a:t>
            </a:r>
          </a:p>
        </p:txBody>
      </p:sp>
      <p:cxnSp>
        <p:nvCxnSpPr>
          <p:cNvPr id="15" name="Connector 14"/>
          <p:cNvCxnSpPr/>
          <p:nvPr/>
        </p:nvCxnSpPr>
        <p:spPr>
          <a:xfrm flipH="1">
            <a:off x="6080760" y="3621024"/>
            <a:ext cx="9144" cy="292608"/>
          </a:xfrm>
          <a:prstGeom prst="bentConnector3">
            <a:avLst/>
          </a:prstGeom>
          <a:ln w="19050">
            <a:solidFill>
              <a:srgbClr val="9AA4C0"/>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04360" y="3913632"/>
            <a:ext cx="3352800" cy="548640"/>
          </a:xfrm>
          <a:prstGeom prst="roundRect">
            <a:avLst>
              <a:gd name="adj" fmla="val 12000"/>
            </a:avLst>
          </a:prstGeom>
          <a:solidFill>
            <a:srgbClr val="FFFFFF"/>
          </a:solidFill>
          <a:ln w="19050">
            <a:solidFill>
              <a:srgbClr val="E5B4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5800" y="3913632"/>
            <a:ext cx="3169919" cy="548640"/>
          </a:xfrm>
          <a:prstGeom prst="rect">
            <a:avLst/>
          </a:prstGeom>
          <a:noFill/>
        </p:spPr>
        <p:txBody>
          <a:bodyPr wrap="square" lIns="0" rIns="0" tIns="0" bIns="0" anchor="ctr">
            <a:spAutoFit/>
          </a:bodyPr>
          <a:lstStyle/>
          <a:p>
            <a:pPr algn="ctr">
              <a:lnSpc>
                <a:spcPct val="100000"/>
              </a:lnSpc>
            </a:pPr>
            <a:r>
              <a:rPr sz="1250" b="1">
                <a:solidFill>
                  <a:srgbClr val="232741"/>
                </a:solidFill>
                <a:latin typeface="Calibri"/>
              </a:rPr>
              <a:t>Négociation</a:t>
            </a:r>
          </a:p>
        </p:txBody>
      </p:sp>
      <p:cxnSp>
        <p:nvCxnSpPr>
          <p:cNvPr id="18" name="Connector 17"/>
          <p:cNvCxnSpPr/>
          <p:nvPr/>
        </p:nvCxnSpPr>
        <p:spPr>
          <a:xfrm>
            <a:off x="6089904" y="3621024"/>
            <a:ext cx="3572256" cy="292608"/>
          </a:xfrm>
          <a:prstGeom prst="bentConnector3">
            <a:avLst/>
          </a:prstGeom>
          <a:ln w="19050">
            <a:solidFill>
              <a:srgbClr val="9AA4C0"/>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85759" y="3913632"/>
            <a:ext cx="3352800" cy="548640"/>
          </a:xfrm>
          <a:prstGeom prst="roundRect">
            <a:avLst>
              <a:gd name="adj" fmla="val 12000"/>
            </a:avLst>
          </a:prstGeom>
          <a:solidFill>
            <a:srgbClr val="FFFFFF"/>
          </a:solidFill>
          <a:ln w="19050">
            <a:solidFill>
              <a:srgbClr val="4C5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7199" y="3913632"/>
            <a:ext cx="3169919" cy="548640"/>
          </a:xfrm>
          <a:prstGeom prst="rect">
            <a:avLst/>
          </a:prstGeom>
          <a:noFill/>
        </p:spPr>
        <p:txBody>
          <a:bodyPr wrap="square" lIns="0" rIns="0" tIns="0" bIns="0" anchor="ctr">
            <a:spAutoFit/>
          </a:bodyPr>
          <a:lstStyle/>
          <a:p>
            <a:pPr algn="ctr">
              <a:lnSpc>
                <a:spcPct val="100000"/>
              </a:lnSpc>
            </a:pPr>
            <a:r>
              <a:rPr sz="1250" b="1">
                <a:solidFill>
                  <a:srgbClr val="232741"/>
                </a:solidFill>
                <a:latin typeface="Calibri"/>
              </a:rPr>
              <a:t>Rapport</a:t>
            </a:r>
          </a:p>
        </p:txBody>
      </p:sp>
      <p:sp>
        <p:nvSpPr>
          <p:cNvPr id="21" name="Rounded Rectangle 20"/>
          <p:cNvSpPr/>
          <p:nvPr/>
        </p:nvSpPr>
        <p:spPr>
          <a:xfrm>
            <a:off x="873252" y="4773168"/>
            <a:ext cx="3246120" cy="566928"/>
          </a:xfrm>
          <a:prstGeom prst="roundRect">
            <a:avLst>
              <a:gd name="adj" fmla="val 12000"/>
            </a:avLst>
          </a:prstGeom>
          <a:solidFill>
            <a:srgbClr val="E7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2" y="4773168"/>
            <a:ext cx="3063239" cy="566928"/>
          </a:xfrm>
          <a:prstGeom prst="rect">
            <a:avLst/>
          </a:prstGeom>
          <a:noFill/>
        </p:spPr>
        <p:txBody>
          <a:bodyPr wrap="square" lIns="0" rIns="0" tIns="0" bIns="0" anchor="ctr">
            <a:spAutoFit/>
          </a:bodyPr>
          <a:lstStyle/>
          <a:p>
            <a:pPr algn="ctr">
              <a:lnSpc>
                <a:spcPct val="100000"/>
              </a:lnSpc>
            </a:pPr>
            <a:r>
              <a:rPr sz="1150" b="1">
                <a:solidFill>
                  <a:srgbClr val="232741"/>
                </a:solidFill>
                <a:latin typeface="Calibri"/>
              </a:rPr>
              <a:t>Computer Vision</a:t>
            </a:r>
          </a:p>
          <a:p>
            <a:pPr algn="ctr">
              <a:lnSpc>
                <a:spcPct val="100000"/>
              </a:lnSpc>
            </a:pPr>
            <a:r>
              <a:rPr sz="1150" b="1">
                <a:solidFill>
                  <a:srgbClr val="232741"/>
                </a:solidFill>
                <a:latin typeface="Calibri"/>
              </a:rPr>
              <a:t>(Custom Vision local)</a:t>
            </a:r>
          </a:p>
        </p:txBody>
      </p:sp>
      <p:sp>
        <p:nvSpPr>
          <p:cNvPr id="23" name="Rounded Rectangle 22"/>
          <p:cNvSpPr/>
          <p:nvPr/>
        </p:nvSpPr>
        <p:spPr>
          <a:xfrm>
            <a:off x="4457700" y="4773168"/>
            <a:ext cx="3246120" cy="566928"/>
          </a:xfrm>
          <a:prstGeom prst="roundRect">
            <a:avLst>
              <a:gd name="adj" fmla="val 12000"/>
            </a:avLst>
          </a:prstGeom>
          <a:solidFill>
            <a:srgbClr val="E7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9140" y="4773168"/>
            <a:ext cx="3063239" cy="566928"/>
          </a:xfrm>
          <a:prstGeom prst="rect">
            <a:avLst/>
          </a:prstGeom>
          <a:noFill/>
        </p:spPr>
        <p:txBody>
          <a:bodyPr wrap="square" lIns="0" rIns="0" tIns="0" bIns="0" anchor="ctr">
            <a:spAutoFit/>
          </a:bodyPr>
          <a:lstStyle/>
          <a:p>
            <a:pPr algn="ctr">
              <a:lnSpc>
                <a:spcPct val="100000"/>
              </a:lnSpc>
            </a:pPr>
            <a:r>
              <a:rPr sz="1150" b="1">
                <a:solidFill>
                  <a:srgbClr val="232741"/>
                </a:solidFill>
                <a:latin typeface="Calibri"/>
              </a:rPr>
              <a:t>Machine Learning</a:t>
            </a:r>
          </a:p>
          <a:p>
            <a:pPr algn="ctr">
              <a:lnSpc>
                <a:spcPct val="100000"/>
              </a:lnSpc>
            </a:pPr>
            <a:r>
              <a:rPr sz="1150" b="1">
                <a:solidFill>
                  <a:srgbClr val="232741"/>
                </a:solidFill>
                <a:latin typeface="Calibri"/>
              </a:rPr>
              <a:t>(Azure ML)</a:t>
            </a:r>
          </a:p>
        </p:txBody>
      </p:sp>
      <p:cxnSp>
        <p:nvCxnSpPr>
          <p:cNvPr id="25" name="Connector 24"/>
          <p:cNvCxnSpPr/>
          <p:nvPr/>
        </p:nvCxnSpPr>
        <p:spPr>
          <a:xfrm flipH="1">
            <a:off x="2496312" y="4462272"/>
            <a:ext cx="3048" cy="310896"/>
          </a:xfrm>
          <a:prstGeom prst="bentConnector3">
            <a:avLst/>
          </a:prstGeom>
          <a:ln w="19050">
            <a:solidFill>
              <a:srgbClr val="9AA4C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499360" y="4462272"/>
            <a:ext cx="3581400" cy="310896"/>
          </a:xfrm>
          <a:prstGeom prst="bentConnector3">
            <a:avLst/>
          </a:prstGeom>
          <a:ln w="19050">
            <a:solidFill>
              <a:srgbClr val="9AA4C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5760720"/>
            <a:ext cx="11064240" cy="457200"/>
          </a:xfrm>
          <a:prstGeom prst="rect">
            <a:avLst/>
          </a:prstGeom>
          <a:noFill/>
        </p:spPr>
        <p:txBody>
          <a:bodyPr wrap="square" lIns="0" rIns="0" tIns="0" bIns="0" anchor="t">
            <a:spAutoFit/>
          </a:bodyPr>
          <a:lstStyle/>
          <a:p>
            <a:pPr algn="ctr">
              <a:lnSpc>
                <a:spcPct val="100000"/>
              </a:lnSpc>
            </a:pPr>
            <a:r>
              <a:rPr sz="1200" b="0">
                <a:solidFill>
                  <a:srgbClr val="6B7280"/>
                </a:solidFill>
                <a:latin typeface="Calibri"/>
              </a:rPr>
              <a:t>Quatre couches : Utilisateur  →  Application web locale (Edge)  →  Agent orchestrateur  →  services Vision / ML.</a:t>
            </a:r>
          </a:p>
        </p:txBody>
      </p:sp>
      <p:sp>
        <p:nvSpPr>
          <p:cNvPr id="28" name="TextBox 27"/>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BRIQUE 1 — COGNITIF</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Computer Vision : lire l'état par l'image</a:t>
            </a:r>
          </a:p>
        </p:txBody>
      </p:sp>
      <p:sp>
        <p:nvSpPr>
          <p:cNvPr id="4" name="Rounded Rectangle 3"/>
          <p:cNvSpPr/>
          <p:nvPr/>
        </p:nvSpPr>
        <p:spPr>
          <a:xfrm>
            <a:off x="548640" y="1600200"/>
            <a:ext cx="5212080" cy="3611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572000" cy="320040"/>
          </a:xfrm>
          <a:prstGeom prst="rect">
            <a:avLst/>
          </a:prstGeom>
          <a:noFill/>
        </p:spPr>
        <p:txBody>
          <a:bodyPr wrap="square" lIns="0" rIns="0" tIns="0" bIns="0" anchor="t">
            <a:spAutoFit/>
          </a:bodyPr>
          <a:lstStyle/>
          <a:p>
            <a:pPr algn="l">
              <a:lnSpc>
                <a:spcPct val="100000"/>
              </a:lnSpc>
            </a:pPr>
            <a:r>
              <a:rPr sz="1400" b="1">
                <a:solidFill>
                  <a:srgbClr val="4C5FD9"/>
                </a:solidFill>
                <a:latin typeface="Calibri"/>
              </a:rPr>
              <a:t>AZURE CUSTOM VISION</a:t>
            </a:r>
          </a:p>
        </p:txBody>
      </p:sp>
      <p:sp>
        <p:nvSpPr>
          <p:cNvPr id="6" name="TextBox 5"/>
          <p:cNvSpPr txBox="1"/>
          <p:nvPr/>
        </p:nvSpPr>
        <p:spPr>
          <a:xfrm>
            <a:off x="868680" y="2377440"/>
            <a:ext cx="4663440" cy="2743200"/>
          </a:xfrm>
          <a:prstGeom prst="rect">
            <a:avLst/>
          </a:prstGeom>
          <a:noFill/>
        </p:spPr>
        <p:txBody>
          <a:bodyPr wrap="square" lIns="0" rIns="0" tIns="0" bIns="0">
            <a:spAutoFit/>
          </a:bodyPr>
          <a:lstStyle/>
          <a:p>
            <a:pPr>
              <a:lnSpc>
                <a:spcPct val="115000"/>
              </a:lnSpc>
              <a:spcAft>
                <a:spcPts val="600"/>
              </a:spcAft>
            </a:pPr>
            <a:r>
              <a:rPr sz="1300" b="1">
                <a:solidFill>
                  <a:srgbClr val="4C5FD9"/>
                </a:solidFill>
                <a:latin typeface="Calibri"/>
              </a:rPr>
              <a:t>•  </a:t>
            </a:r>
            <a:r>
              <a:rPr sz="1300">
                <a:solidFill>
                  <a:srgbClr val="232741"/>
                </a:solidFill>
                <a:latin typeface="Calibri"/>
              </a:rPr>
              <a:t>Modèle entraîné sur des véhicules</a:t>
            </a:r>
          </a:p>
          <a:p>
            <a:pPr>
              <a:lnSpc>
                <a:spcPct val="115000"/>
              </a:lnSpc>
              <a:spcAft>
                <a:spcPts val="600"/>
              </a:spcAft>
            </a:pPr>
            <a:r>
              <a:rPr sz="1300" b="1">
                <a:solidFill>
                  <a:srgbClr val="4C5FD9"/>
                </a:solidFill>
                <a:latin typeface="Calibri"/>
              </a:rPr>
              <a:t>•  </a:t>
            </a:r>
            <a:r>
              <a:rPr sz="1300">
                <a:solidFill>
                  <a:srgbClr val="232741"/>
                </a:solidFill>
                <a:latin typeface="Calibri"/>
              </a:rPr>
              <a:t>Exporté en conteneur Docker local (port 88)</a:t>
            </a:r>
          </a:p>
          <a:p>
            <a:pPr>
              <a:lnSpc>
                <a:spcPct val="115000"/>
              </a:lnSpc>
              <a:spcAft>
                <a:spcPts val="600"/>
              </a:spcAft>
            </a:pPr>
            <a:r>
              <a:rPr sz="1300" b="1">
                <a:solidFill>
                  <a:srgbClr val="4C5FD9"/>
                </a:solidFill>
                <a:latin typeface="Calibri"/>
              </a:rPr>
              <a:t>•  </a:t>
            </a:r>
            <a:r>
              <a:rPr sz="1300">
                <a:solidFill>
                  <a:srgbClr val="232741"/>
                </a:solidFill>
                <a:latin typeface="Calibri"/>
              </a:rPr>
              <a:t>Aucune clé cloud requise à la démo</a:t>
            </a:r>
          </a:p>
          <a:p>
            <a:pPr>
              <a:lnSpc>
                <a:spcPct val="115000"/>
              </a:lnSpc>
              <a:spcAft>
                <a:spcPts val="600"/>
              </a:spcAft>
            </a:pPr>
            <a:r>
              <a:rPr sz="1300" b="1">
                <a:solidFill>
                  <a:srgbClr val="4C5FD9"/>
                </a:solidFill>
                <a:latin typeface="Calibri"/>
              </a:rPr>
              <a:t>•  </a:t>
            </a:r>
            <a:r>
              <a:rPr sz="1300">
                <a:solidFill>
                  <a:srgbClr val="232741"/>
                </a:solidFill>
                <a:latin typeface="Calibri"/>
              </a:rPr>
              <a:t>Classe l'état : « Bon » / « Détruit »</a:t>
            </a:r>
          </a:p>
        </p:txBody>
      </p:sp>
      <p:sp>
        <p:nvSpPr>
          <p:cNvPr id="7" name="Rounded Rectangle 6"/>
          <p:cNvSpPr/>
          <p:nvPr/>
        </p:nvSpPr>
        <p:spPr>
          <a:xfrm>
            <a:off x="6080760" y="1600200"/>
            <a:ext cx="5212080" cy="3611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572000" cy="320040"/>
          </a:xfrm>
          <a:prstGeom prst="rect">
            <a:avLst/>
          </a:prstGeom>
          <a:noFill/>
        </p:spPr>
        <p:txBody>
          <a:bodyPr wrap="square" lIns="0" rIns="0" tIns="0" bIns="0" anchor="t">
            <a:spAutoFit/>
          </a:bodyPr>
          <a:lstStyle/>
          <a:p>
            <a:pPr algn="l">
              <a:lnSpc>
                <a:spcPct val="100000"/>
              </a:lnSpc>
            </a:pPr>
            <a:r>
              <a:rPr sz="1400" b="1">
                <a:solidFill>
                  <a:srgbClr val="1B2340"/>
                </a:solidFill>
                <a:latin typeface="Calibri"/>
              </a:rPr>
              <a:t>DU VERDICT AU SCORE</a:t>
            </a:r>
          </a:p>
        </p:txBody>
      </p:sp>
      <p:sp>
        <p:nvSpPr>
          <p:cNvPr id="9" name="Rounded Rectangle 8"/>
          <p:cNvSpPr/>
          <p:nvPr/>
        </p:nvSpPr>
        <p:spPr>
          <a:xfrm>
            <a:off x="6400800" y="2423160"/>
            <a:ext cx="1737360" cy="384048"/>
          </a:xfrm>
          <a:prstGeom prst="roundRect">
            <a:avLst>
              <a:gd name="adj" fmla="val 50000"/>
            </a:avLst>
          </a:prstGeom>
          <a:solidFill>
            <a:srgbClr val="2E9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423160"/>
            <a:ext cx="1737360" cy="384048"/>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Bon</a:t>
            </a:r>
          </a:p>
        </p:txBody>
      </p:sp>
      <p:sp>
        <p:nvSpPr>
          <p:cNvPr id="11" name="Rounded Rectangle 10"/>
          <p:cNvSpPr/>
          <p:nvPr/>
        </p:nvSpPr>
        <p:spPr>
          <a:xfrm>
            <a:off x="8275320" y="2423160"/>
            <a:ext cx="1920240" cy="384048"/>
          </a:xfrm>
          <a:prstGeom prst="roundRect">
            <a:avLst>
              <a:gd name="adj" fmla="val 50000"/>
            </a:avLst>
          </a:prstGeom>
          <a:solidFill>
            <a:srgbClr val="E15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423160"/>
            <a:ext cx="1920240" cy="384048"/>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Détruit</a:t>
            </a:r>
          </a:p>
        </p:txBody>
      </p:sp>
      <p:sp>
        <p:nvSpPr>
          <p:cNvPr id="13" name="TextBox 12"/>
          <p:cNvSpPr txBox="1"/>
          <p:nvPr/>
        </p:nvSpPr>
        <p:spPr>
          <a:xfrm>
            <a:off x="7223760" y="3063240"/>
            <a:ext cx="457200" cy="457200"/>
          </a:xfrm>
          <a:prstGeom prst="rect">
            <a:avLst/>
          </a:prstGeom>
          <a:noFill/>
        </p:spPr>
        <p:txBody>
          <a:bodyPr wrap="square" lIns="0" rIns="0" tIns="0" bIns="0" anchor="ctr">
            <a:spAutoFit/>
          </a:bodyPr>
          <a:lstStyle/>
          <a:p>
            <a:pPr algn="ctr">
              <a:lnSpc>
                <a:spcPct val="100000"/>
              </a:lnSpc>
            </a:pPr>
            <a:r>
              <a:rPr sz="2200" b="1">
                <a:solidFill>
                  <a:srgbClr val="1B2340"/>
                </a:solidFill>
                <a:latin typeface="Calibri"/>
              </a:rPr>
              <a:t>→</a:t>
            </a:r>
          </a:p>
        </p:txBody>
      </p:sp>
      <p:sp>
        <p:nvSpPr>
          <p:cNvPr id="14" name="TextBox 13"/>
          <p:cNvSpPr txBox="1"/>
          <p:nvPr/>
        </p:nvSpPr>
        <p:spPr>
          <a:xfrm>
            <a:off x="6400800" y="3520440"/>
            <a:ext cx="4663440" cy="457200"/>
          </a:xfrm>
          <a:prstGeom prst="rect">
            <a:avLst/>
          </a:prstGeom>
          <a:noFill/>
        </p:spPr>
        <p:txBody>
          <a:bodyPr wrap="square" lIns="0" rIns="0" tIns="0" bIns="0" anchor="t">
            <a:spAutoFit/>
          </a:bodyPr>
          <a:lstStyle/>
          <a:p>
            <a:pPr algn="l">
              <a:lnSpc>
                <a:spcPct val="100000"/>
              </a:lnSpc>
            </a:pPr>
            <a:r>
              <a:rPr sz="1500" b="1">
                <a:solidFill>
                  <a:srgbClr val="232741"/>
                </a:solidFill>
                <a:latin typeface="Calibri"/>
              </a:rPr>
              <a:t>Score d'état  0 – 100</a:t>
            </a:r>
          </a:p>
        </p:txBody>
      </p:sp>
      <p:sp>
        <p:nvSpPr>
          <p:cNvPr id="15" name="Rounded Rectangle 14"/>
          <p:cNvSpPr/>
          <p:nvPr/>
        </p:nvSpPr>
        <p:spPr>
          <a:xfrm>
            <a:off x="6400800" y="4069080"/>
            <a:ext cx="4663440" cy="868680"/>
          </a:xfrm>
          <a:prstGeom prst="roundRect">
            <a:avLst>
              <a:gd name="adj" fmla="val 8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069080"/>
            <a:ext cx="4297680" cy="868680"/>
          </a:xfrm>
          <a:prstGeom prst="rect">
            <a:avLst/>
          </a:prstGeom>
          <a:noFill/>
        </p:spPr>
        <p:txBody>
          <a:bodyPr wrap="square" lIns="0" rIns="0" tIns="0" bIns="0" anchor="ctr">
            <a:spAutoFit/>
          </a:bodyPr>
          <a:lstStyle/>
          <a:p>
            <a:pPr algn="l">
              <a:lnSpc>
                <a:spcPct val="110000"/>
              </a:lnSpc>
            </a:pPr>
            <a:r>
              <a:rPr sz="1200" b="0">
                <a:solidFill>
                  <a:srgbClr val="232741"/>
                </a:solidFill>
                <a:latin typeface="Calibri"/>
              </a:rPr>
              <a:t>Perte totale (épave) détectée si la réparation dépasse 80 % de la valeur du véhicule.</a:t>
            </a:r>
          </a:p>
        </p:txBody>
      </p:sp>
      <p:sp>
        <p:nvSpPr>
          <p:cNvPr id="17" name="Rounded Rectangle 16"/>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Le modèle Custom Vision, exporté et exécuté en local, qualifie l'état du véhicule en direct.</a:t>
            </a:r>
          </a:p>
        </p:txBody>
      </p:sp>
      <p:sp>
        <p:nvSpPr>
          <p:cNvPr id="19" name="TextBox 18"/>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BRIQUE 3 — MACHINE LEARNING</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Chiffrer le coût et la valeur</a:t>
            </a:r>
          </a:p>
        </p:txBody>
      </p:sp>
      <p:sp>
        <p:nvSpPr>
          <p:cNvPr id="4" name="Rounded Rectangle 3"/>
          <p:cNvSpPr/>
          <p:nvPr/>
        </p:nvSpPr>
        <p:spPr>
          <a:xfrm>
            <a:off x="548640" y="1600200"/>
            <a:ext cx="5212080"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572000" cy="320040"/>
          </a:xfrm>
          <a:prstGeom prst="rect">
            <a:avLst/>
          </a:prstGeom>
          <a:noFill/>
        </p:spPr>
        <p:txBody>
          <a:bodyPr wrap="square" lIns="0" rIns="0" tIns="0" bIns="0" anchor="t">
            <a:spAutoFit/>
          </a:bodyPr>
          <a:lstStyle/>
          <a:p>
            <a:pPr algn="l">
              <a:lnSpc>
                <a:spcPct val="100000"/>
              </a:lnSpc>
            </a:pPr>
            <a:r>
              <a:rPr sz="1400" b="1">
                <a:solidFill>
                  <a:srgbClr val="4C5FD9"/>
                </a:solidFill>
                <a:latin typeface="Calibri"/>
              </a:rPr>
              <a:t>COÛT DE RÉPARATION</a:t>
            </a:r>
          </a:p>
        </p:txBody>
      </p:sp>
      <p:sp>
        <p:nvSpPr>
          <p:cNvPr id="6" name="TextBox 5"/>
          <p:cNvSpPr txBox="1"/>
          <p:nvPr/>
        </p:nvSpPr>
        <p:spPr>
          <a:xfrm>
            <a:off x="868680" y="2377440"/>
            <a:ext cx="4663440" cy="2011680"/>
          </a:xfrm>
          <a:prstGeom prst="rect">
            <a:avLst/>
          </a:prstGeom>
          <a:noFill/>
        </p:spPr>
        <p:txBody>
          <a:bodyPr wrap="square" lIns="0" rIns="0" tIns="0" bIns="0">
            <a:spAutoFit/>
          </a:bodyPr>
          <a:lstStyle/>
          <a:p>
            <a:pPr>
              <a:lnSpc>
                <a:spcPct val="115000"/>
              </a:lnSpc>
              <a:spcAft>
                <a:spcPts val="600"/>
              </a:spcAft>
            </a:pPr>
            <a:r>
              <a:rPr sz="1250" b="1">
                <a:solidFill>
                  <a:srgbClr val="4C5FD9"/>
                </a:solidFill>
                <a:latin typeface="Calibri"/>
              </a:rPr>
              <a:t>•  </a:t>
            </a:r>
            <a:r>
              <a:rPr sz="1250">
                <a:solidFill>
                  <a:srgbClr val="232741"/>
                </a:solidFill>
                <a:latin typeface="Calibri"/>
              </a:rPr>
              <a:t>Modèle de régression Azure ML</a:t>
            </a:r>
          </a:p>
          <a:p>
            <a:pPr>
              <a:lnSpc>
                <a:spcPct val="115000"/>
              </a:lnSpc>
              <a:spcAft>
                <a:spcPts val="600"/>
              </a:spcAft>
            </a:pPr>
            <a:r>
              <a:rPr sz="1250" b="1">
                <a:solidFill>
                  <a:srgbClr val="4C5FD9"/>
                </a:solidFill>
                <a:latin typeface="Calibri"/>
              </a:rPr>
              <a:t>•  </a:t>
            </a:r>
            <a:r>
              <a:rPr sz="1250">
                <a:solidFill>
                  <a:srgbClr val="232741"/>
                </a:solidFill>
                <a:latin typeface="Calibri"/>
              </a:rPr>
              <a:t>Endpoint temps réel (comme le tutoriel)</a:t>
            </a:r>
          </a:p>
          <a:p>
            <a:pPr>
              <a:lnSpc>
                <a:spcPct val="115000"/>
              </a:lnSpc>
              <a:spcAft>
                <a:spcPts val="600"/>
              </a:spcAft>
            </a:pPr>
            <a:r>
              <a:rPr sz="1250" b="1">
                <a:solidFill>
                  <a:srgbClr val="4C5FD9"/>
                </a:solidFill>
                <a:latin typeface="Calibri"/>
              </a:rPr>
              <a:t>•  </a:t>
            </a:r>
            <a:r>
              <a:rPr sz="1250">
                <a:solidFill>
                  <a:srgbClr val="232741"/>
                </a:solidFill>
                <a:latin typeface="Calibri"/>
              </a:rPr>
              <a:t>Caractéristiques : type, sévérité, marque, année, km</a:t>
            </a:r>
          </a:p>
        </p:txBody>
      </p:sp>
      <p:sp>
        <p:nvSpPr>
          <p:cNvPr id="7" name="Rounded Rectangle 6"/>
          <p:cNvSpPr/>
          <p:nvPr/>
        </p:nvSpPr>
        <p:spPr>
          <a:xfrm>
            <a:off x="6080760" y="1600200"/>
            <a:ext cx="5212080"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572000" cy="320040"/>
          </a:xfrm>
          <a:prstGeom prst="rect">
            <a:avLst/>
          </a:prstGeom>
          <a:noFill/>
        </p:spPr>
        <p:txBody>
          <a:bodyPr wrap="square" lIns="0" rIns="0" tIns="0" bIns="0" anchor="t">
            <a:spAutoFit/>
          </a:bodyPr>
          <a:lstStyle/>
          <a:p>
            <a:pPr algn="l">
              <a:lnSpc>
                <a:spcPct val="100000"/>
              </a:lnSpc>
            </a:pPr>
            <a:r>
              <a:rPr sz="1400" b="1">
                <a:solidFill>
                  <a:srgbClr val="2E9E64"/>
                </a:solidFill>
                <a:latin typeface="Calibri"/>
              </a:rPr>
              <a:t>VALEUR MARCHANDE</a:t>
            </a:r>
          </a:p>
        </p:txBody>
      </p:sp>
      <p:sp>
        <p:nvSpPr>
          <p:cNvPr id="9" name="TextBox 8"/>
          <p:cNvSpPr txBox="1"/>
          <p:nvPr/>
        </p:nvSpPr>
        <p:spPr>
          <a:xfrm>
            <a:off x="6400800" y="2377440"/>
            <a:ext cx="4663440" cy="2011680"/>
          </a:xfrm>
          <a:prstGeom prst="rect">
            <a:avLst/>
          </a:prstGeom>
          <a:noFill/>
        </p:spPr>
        <p:txBody>
          <a:bodyPr wrap="square" lIns="0" rIns="0" tIns="0" bIns="0">
            <a:spAutoFit/>
          </a:bodyPr>
          <a:lstStyle/>
          <a:p>
            <a:pPr>
              <a:lnSpc>
                <a:spcPct val="115000"/>
              </a:lnSpc>
              <a:spcAft>
                <a:spcPts val="600"/>
              </a:spcAft>
            </a:pPr>
            <a:r>
              <a:rPr sz="1250" b="1">
                <a:solidFill>
                  <a:srgbClr val="2E9E64"/>
                </a:solidFill>
                <a:latin typeface="Calibri"/>
              </a:rPr>
              <a:t>•  </a:t>
            </a:r>
            <a:r>
              <a:rPr sz="1250">
                <a:solidFill>
                  <a:srgbClr val="232741"/>
                </a:solidFill>
                <a:latin typeface="Calibri"/>
              </a:rPr>
              <a:t>Dépréciation : marque, année, kilométrage</a:t>
            </a:r>
          </a:p>
          <a:p>
            <a:pPr>
              <a:lnSpc>
                <a:spcPct val="115000"/>
              </a:lnSpc>
              <a:spcAft>
                <a:spcPts val="600"/>
              </a:spcAft>
            </a:pPr>
            <a:r>
              <a:rPr sz="1250" b="1">
                <a:solidFill>
                  <a:srgbClr val="2E9E64"/>
                </a:solidFill>
                <a:latin typeface="Calibri"/>
              </a:rPr>
              <a:t>•  </a:t>
            </a:r>
            <a:r>
              <a:rPr sz="1250">
                <a:solidFill>
                  <a:srgbClr val="232741"/>
                </a:solidFill>
                <a:latin typeface="Calibri"/>
              </a:rPr>
              <a:t>Ajustée par le facteur d'état</a:t>
            </a:r>
          </a:p>
          <a:p>
            <a:pPr>
              <a:lnSpc>
                <a:spcPct val="115000"/>
              </a:lnSpc>
              <a:spcAft>
                <a:spcPts val="600"/>
              </a:spcAft>
            </a:pPr>
            <a:r>
              <a:rPr sz="1250" b="1">
                <a:solidFill>
                  <a:srgbClr val="2E9E64"/>
                </a:solidFill>
                <a:latin typeface="Calibri"/>
              </a:rPr>
              <a:t>•  </a:t>
            </a:r>
            <a:r>
              <a:rPr sz="1250">
                <a:solidFill>
                  <a:srgbClr val="232741"/>
                </a:solidFill>
                <a:latin typeface="Calibri"/>
              </a:rPr>
              <a:t>Base d'une offre de prix réaliste</a:t>
            </a:r>
          </a:p>
        </p:txBody>
      </p:sp>
      <p:sp>
        <p:nvSpPr>
          <p:cNvPr id="10" name="Rounded Rectangle 9"/>
          <p:cNvSpPr/>
          <p:nvPr/>
        </p:nvSpPr>
        <p:spPr>
          <a:xfrm>
            <a:off x="548640" y="4572000"/>
            <a:ext cx="10744200" cy="777240"/>
          </a:xfrm>
          <a:prstGeom prst="roundRect">
            <a:avLst>
              <a:gd name="adj" fmla="val 8000"/>
            </a:avLst>
          </a:prstGeom>
          <a:solidFill>
            <a:srgbClr val="1B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572000"/>
            <a:ext cx="10241280" cy="777240"/>
          </a:xfrm>
          <a:prstGeom prst="rect">
            <a:avLst/>
          </a:prstGeom>
          <a:noFill/>
        </p:spPr>
        <p:txBody>
          <a:bodyPr wrap="square" lIns="0" rIns="0" tIns="0" bIns="0" anchor="ctr">
            <a:spAutoFit/>
          </a:bodyPr>
          <a:lstStyle/>
          <a:p>
            <a:pPr algn="l">
              <a:lnSpc>
                <a:spcPct val="100000"/>
              </a:lnSpc>
            </a:pPr>
            <a:r>
              <a:rPr sz="1300" b="1">
                <a:solidFill>
                  <a:srgbClr val="FFFFFF"/>
                </a:solidFill>
                <a:latin typeface="Calibri"/>
              </a:rPr>
              <a:t>Règle métier : réparer ≥ 80 % de la valeur  →  perte totale économique (l'achat n'a plus d'intérêt).</a:t>
            </a:r>
          </a:p>
        </p:txBody>
      </p:sp>
      <p:sp>
        <p:nvSpPr>
          <p:cNvPr id="12" name="Rounded Rectangle 11"/>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Même démarche que le tutoriel : modèle entraîné dans ML Designer, déployé en endpoint, consommé en REST.</a:t>
            </a:r>
          </a:p>
        </p:txBody>
      </p:sp>
      <p:sp>
        <p:nvSpPr>
          <p:cNvPr id="14" name="TextBox 13"/>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BRIQUE 4 — AGENTIQUE</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Un orchestrateur, trois sous-agents</a:t>
            </a:r>
          </a:p>
        </p:txBody>
      </p:sp>
      <p:sp>
        <p:nvSpPr>
          <p:cNvPr id="4" name="Rounded Rectangle 3"/>
          <p:cNvSpPr/>
          <p:nvPr/>
        </p:nvSpPr>
        <p:spPr>
          <a:xfrm>
            <a:off x="4718304" y="1554480"/>
            <a:ext cx="2743200" cy="685800"/>
          </a:xfrm>
          <a:prstGeom prst="roundRect">
            <a:avLst>
              <a:gd name="adj" fmla="val 12000"/>
            </a:avLst>
          </a:prstGeom>
          <a:solidFill>
            <a:srgbClr val="4C5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18304" y="1554480"/>
            <a:ext cx="2743200" cy="6858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ORCHESTRATEUR</a:t>
            </a:r>
          </a:p>
        </p:txBody>
      </p:sp>
      <p:cxnSp>
        <p:nvCxnSpPr>
          <p:cNvPr id="6" name="Connector 5"/>
          <p:cNvCxnSpPr/>
          <p:nvPr/>
        </p:nvCxnSpPr>
        <p:spPr>
          <a:xfrm flipH="1">
            <a:off x="2895447" y="2240280"/>
            <a:ext cx="3194457" cy="548640"/>
          </a:xfrm>
          <a:prstGeom prst="bentConnector3">
            <a:avLst/>
          </a:prstGeom>
          <a:ln w="19050">
            <a:solidFill>
              <a:srgbClr val="C4CBE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89904" y="2240280"/>
            <a:ext cx="5943" cy="548640"/>
          </a:xfrm>
          <a:prstGeom prst="bentConnector3">
            <a:avLst/>
          </a:prstGeom>
          <a:ln w="19050">
            <a:solidFill>
              <a:srgbClr val="C4CBE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89904" y="2240280"/>
            <a:ext cx="3206343" cy="548640"/>
          </a:xfrm>
          <a:prstGeom prst="bentConnector3">
            <a:avLst/>
          </a:prstGeom>
          <a:ln w="19050">
            <a:solidFill>
              <a:srgbClr val="C4CBE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523847" y="2788920"/>
            <a:ext cx="2743200" cy="868680"/>
          </a:xfrm>
          <a:prstGeom prst="roundRect">
            <a:avLst>
              <a:gd name="adj" fmla="val 10000"/>
            </a:avLst>
          </a:prstGeom>
          <a:solidFill>
            <a:srgbClr val="FFFFFF"/>
          </a:solidFill>
          <a:ln w="19050">
            <a:solidFill>
              <a:srgbClr val="2E9E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3847" y="2788920"/>
            <a:ext cx="2743200" cy="868680"/>
          </a:xfrm>
          <a:prstGeom prst="rect">
            <a:avLst/>
          </a:prstGeom>
          <a:noFill/>
        </p:spPr>
        <p:txBody>
          <a:bodyPr wrap="square" lIns="0" rIns="0" tIns="0" bIns="0" anchor="ctr">
            <a:spAutoFit/>
          </a:bodyPr>
          <a:lstStyle/>
          <a:p>
            <a:pPr algn="ctr">
              <a:lnSpc>
                <a:spcPct val="100000"/>
              </a:lnSpc>
            </a:pPr>
            <a:r>
              <a:rPr sz="1350" b="1">
                <a:solidFill>
                  <a:srgbClr val="232741"/>
                </a:solidFill>
                <a:latin typeface="Calibri"/>
              </a:rPr>
              <a:t>Évaluation</a:t>
            </a:r>
          </a:p>
        </p:txBody>
      </p:sp>
      <p:sp>
        <p:nvSpPr>
          <p:cNvPr id="11" name="Rounded Rectangle 10"/>
          <p:cNvSpPr/>
          <p:nvPr/>
        </p:nvSpPr>
        <p:spPr>
          <a:xfrm>
            <a:off x="4724247" y="2788920"/>
            <a:ext cx="2743200" cy="868680"/>
          </a:xfrm>
          <a:prstGeom prst="roundRect">
            <a:avLst>
              <a:gd name="adj" fmla="val 10000"/>
            </a:avLst>
          </a:prstGeom>
          <a:solidFill>
            <a:srgbClr val="FFFFFF"/>
          </a:solidFill>
          <a:ln w="19050">
            <a:solidFill>
              <a:srgbClr val="E5B4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4247" y="2788920"/>
            <a:ext cx="2743200" cy="868680"/>
          </a:xfrm>
          <a:prstGeom prst="rect">
            <a:avLst/>
          </a:prstGeom>
          <a:noFill/>
        </p:spPr>
        <p:txBody>
          <a:bodyPr wrap="square" lIns="0" rIns="0" tIns="0" bIns="0" anchor="ctr">
            <a:spAutoFit/>
          </a:bodyPr>
          <a:lstStyle/>
          <a:p>
            <a:pPr algn="ctr">
              <a:lnSpc>
                <a:spcPct val="100000"/>
              </a:lnSpc>
            </a:pPr>
            <a:r>
              <a:rPr sz="1350" b="1">
                <a:solidFill>
                  <a:srgbClr val="232741"/>
                </a:solidFill>
                <a:latin typeface="Calibri"/>
              </a:rPr>
              <a:t>Négociation</a:t>
            </a:r>
          </a:p>
        </p:txBody>
      </p:sp>
      <p:sp>
        <p:nvSpPr>
          <p:cNvPr id="13" name="Rounded Rectangle 12"/>
          <p:cNvSpPr/>
          <p:nvPr/>
        </p:nvSpPr>
        <p:spPr>
          <a:xfrm>
            <a:off x="7924647" y="2788920"/>
            <a:ext cx="2743200" cy="868680"/>
          </a:xfrm>
          <a:prstGeom prst="roundRect">
            <a:avLst>
              <a:gd name="adj" fmla="val 10000"/>
            </a:avLst>
          </a:prstGeom>
          <a:solidFill>
            <a:srgbClr val="FFFFFF"/>
          </a:solidFill>
          <a:ln w="19050">
            <a:solidFill>
              <a:srgbClr val="4C5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24647" y="2788920"/>
            <a:ext cx="2743200" cy="868680"/>
          </a:xfrm>
          <a:prstGeom prst="rect">
            <a:avLst/>
          </a:prstGeom>
          <a:noFill/>
        </p:spPr>
        <p:txBody>
          <a:bodyPr wrap="square" lIns="0" rIns="0" tIns="0" bIns="0" anchor="ctr">
            <a:spAutoFit/>
          </a:bodyPr>
          <a:lstStyle/>
          <a:p>
            <a:pPr algn="ctr">
              <a:lnSpc>
                <a:spcPct val="100000"/>
              </a:lnSpc>
            </a:pPr>
            <a:r>
              <a:rPr sz="1350" b="1">
                <a:solidFill>
                  <a:srgbClr val="232741"/>
                </a:solidFill>
                <a:latin typeface="Calibri"/>
              </a:rPr>
              <a:t>Rapport</a:t>
            </a:r>
          </a:p>
        </p:txBody>
      </p:sp>
      <p:sp>
        <p:nvSpPr>
          <p:cNvPr id="15" name="Rounded Rectangle 14"/>
          <p:cNvSpPr/>
          <p:nvPr/>
        </p:nvSpPr>
        <p:spPr>
          <a:xfrm>
            <a:off x="822960" y="4069080"/>
            <a:ext cx="6035040" cy="1143000"/>
          </a:xfrm>
          <a:prstGeom prst="roundRect">
            <a:avLst>
              <a:gd name="adj" fmla="val 8000"/>
            </a:avLst>
          </a:prstGeom>
          <a:solidFill>
            <a:srgbClr val="1A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224528"/>
            <a:ext cx="5669280" cy="365760"/>
          </a:xfrm>
          <a:prstGeom prst="rect">
            <a:avLst/>
          </a:prstGeom>
          <a:noFill/>
        </p:spPr>
        <p:txBody>
          <a:bodyPr wrap="square" lIns="0" rIns="0" tIns="0" bIns="0" anchor="t">
            <a:spAutoFit/>
          </a:bodyPr>
          <a:lstStyle/>
          <a:p>
            <a:pPr algn="l">
              <a:lnSpc>
                <a:spcPct val="100000"/>
              </a:lnSpc>
            </a:pPr>
            <a:r>
              <a:rPr sz="1200" b="1">
                <a:solidFill>
                  <a:srgbClr val="AFC0FF"/>
                </a:solidFill>
                <a:latin typeface="Calibri"/>
              </a:rPr>
              <a:t>COMMUNICATION VISIBLE EN DIRECT</a:t>
            </a:r>
          </a:p>
        </p:txBody>
      </p:sp>
      <p:sp>
        <p:nvSpPr>
          <p:cNvPr id="17" name="TextBox 16"/>
          <p:cNvSpPr txBox="1"/>
          <p:nvPr/>
        </p:nvSpPr>
        <p:spPr>
          <a:xfrm>
            <a:off x="1051560" y="4590288"/>
            <a:ext cx="5669280" cy="548640"/>
          </a:xfrm>
          <a:prstGeom prst="rect">
            <a:avLst/>
          </a:prstGeom>
          <a:noFill/>
        </p:spPr>
        <p:txBody>
          <a:bodyPr wrap="square" lIns="0" rIns="0" tIns="0" bIns="0" anchor="t">
            <a:spAutoFit/>
          </a:bodyPr>
          <a:lstStyle/>
          <a:p>
            <a:pPr algn="l">
              <a:lnSpc>
                <a:spcPct val="110000"/>
              </a:lnSpc>
            </a:pPr>
            <a:r>
              <a:rPr sz="1200" b="0">
                <a:solidFill>
                  <a:srgbClr val="D7DBEE"/>
                </a:solidFill>
                <a:latin typeface="Calibri"/>
              </a:rPr>
              <a:t>Chaque délégation et chaque réponse s'affiche en streaming dans la webapp pendant l'inspection.</a:t>
            </a:r>
          </a:p>
        </p:txBody>
      </p:sp>
      <p:sp>
        <p:nvSpPr>
          <p:cNvPr id="18" name="Rounded Rectangle 17"/>
          <p:cNvSpPr/>
          <p:nvPr/>
        </p:nvSpPr>
        <p:spPr>
          <a:xfrm>
            <a:off x="7086600" y="4069080"/>
            <a:ext cx="420624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4224528"/>
            <a:ext cx="3749039" cy="365760"/>
          </a:xfrm>
          <a:prstGeom prst="rect">
            <a:avLst/>
          </a:prstGeom>
          <a:noFill/>
        </p:spPr>
        <p:txBody>
          <a:bodyPr wrap="square" lIns="0" rIns="0" tIns="0" bIns="0" anchor="t">
            <a:spAutoFit/>
          </a:bodyPr>
          <a:lstStyle/>
          <a:p>
            <a:pPr algn="l">
              <a:lnSpc>
                <a:spcPct val="100000"/>
              </a:lnSpc>
            </a:pPr>
            <a:r>
              <a:rPr sz="1200" b="1">
                <a:solidFill>
                  <a:srgbClr val="2E9E64"/>
                </a:solidFill>
                <a:latin typeface="Calibri"/>
              </a:rPr>
              <a:t>LLM LOCAL / CLOUD</a:t>
            </a:r>
          </a:p>
        </p:txBody>
      </p:sp>
      <p:sp>
        <p:nvSpPr>
          <p:cNvPr id="20" name="Rounded Rectangle 19"/>
          <p:cNvSpPr/>
          <p:nvPr/>
        </p:nvSpPr>
        <p:spPr>
          <a:xfrm>
            <a:off x="7315200" y="4617720"/>
            <a:ext cx="1234440" cy="384048"/>
          </a:xfrm>
          <a:prstGeom prst="roundRect">
            <a:avLst>
              <a:gd name="adj" fmla="val 50000"/>
            </a:avLst>
          </a:prstGeom>
          <a:solidFill>
            <a:srgbClr val="2E9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4617720"/>
            <a:ext cx="1234440" cy="384048"/>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Mistral</a:t>
            </a:r>
          </a:p>
        </p:txBody>
      </p:sp>
      <p:sp>
        <p:nvSpPr>
          <p:cNvPr id="22" name="Rounded Rectangle 21"/>
          <p:cNvSpPr/>
          <p:nvPr/>
        </p:nvSpPr>
        <p:spPr>
          <a:xfrm>
            <a:off x="8641080" y="4617720"/>
            <a:ext cx="1234440" cy="384048"/>
          </a:xfrm>
          <a:prstGeom prst="roundRect">
            <a:avLst>
              <a:gd name="adj" fmla="val 50000"/>
            </a:avLst>
          </a:prstGeom>
          <a:solidFill>
            <a:srgbClr val="1B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4617720"/>
            <a:ext cx="1234440" cy="384048"/>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Ollama</a:t>
            </a:r>
          </a:p>
        </p:txBody>
      </p:sp>
      <p:sp>
        <p:nvSpPr>
          <p:cNvPr id="24" name="Rounded Rectangle 23"/>
          <p:cNvSpPr/>
          <p:nvPr/>
        </p:nvSpPr>
        <p:spPr>
          <a:xfrm>
            <a:off x="9966960" y="4617720"/>
            <a:ext cx="1188720" cy="384048"/>
          </a:xfrm>
          <a:prstGeom prst="roundRect">
            <a:avLst>
              <a:gd name="adj" fmla="val 50000"/>
            </a:avLst>
          </a:prstGeom>
          <a:solidFill>
            <a:srgbClr val="4C5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66960" y="4617720"/>
            <a:ext cx="1188720" cy="384048"/>
          </a:xfrm>
          <a:prstGeom prst="rect">
            <a:avLst/>
          </a:prstGeom>
          <a:noFill/>
        </p:spPr>
        <p:txBody>
          <a:bodyPr wrap="square" lIns="0" rIns="0" tIns="0" bIns="0" anchor="ctr">
            <a:spAutoFit/>
          </a:bodyPr>
          <a:lstStyle/>
          <a:p>
            <a:pPr algn="ctr">
              <a:lnSpc>
                <a:spcPct val="100000"/>
              </a:lnSpc>
            </a:pPr>
            <a:r>
              <a:rPr sz="1100" b="1">
                <a:solidFill>
                  <a:srgbClr val="FFFFFF"/>
                </a:solidFill>
                <a:latin typeface="Calibri"/>
              </a:rPr>
              <a:t>Gemini</a:t>
            </a:r>
          </a:p>
        </p:txBody>
      </p:sp>
      <p:sp>
        <p:nvSpPr>
          <p:cNvPr id="26" name="Rounded Rectangle 25"/>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Chaque flèche est un vrai message échangé entre agents, affiché en direct : le multi-agent est visible.</a:t>
            </a:r>
          </a:p>
        </p:txBody>
      </p:sp>
      <p:sp>
        <p:nvSpPr>
          <p:cNvPr id="28" name="TextBox 27"/>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BRIQUE 2 — EDGE</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Tout tourne en local (Docker)</a:t>
            </a:r>
          </a:p>
        </p:txBody>
      </p:sp>
      <p:sp>
        <p:nvSpPr>
          <p:cNvPr id="4" name="Rounded Rectangle 3"/>
          <p:cNvSpPr/>
          <p:nvPr/>
        </p:nvSpPr>
        <p:spPr>
          <a:xfrm>
            <a:off x="822960" y="1920240"/>
            <a:ext cx="2743200" cy="1234440"/>
          </a:xfrm>
          <a:prstGeom prst="roundRect">
            <a:avLst>
              <a:gd name="adj" fmla="val 10000"/>
            </a:avLst>
          </a:prstGeom>
          <a:solidFill>
            <a:srgbClr val="1B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20240"/>
            <a:ext cx="2743200" cy="123444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Laptop</a:t>
            </a:r>
          </a:p>
        </p:txBody>
      </p:sp>
      <p:sp>
        <p:nvSpPr>
          <p:cNvPr id="6" name="TextBox 5"/>
          <p:cNvSpPr txBox="1"/>
          <p:nvPr/>
        </p:nvSpPr>
        <p:spPr>
          <a:xfrm>
            <a:off x="3749039" y="2308860"/>
            <a:ext cx="457200" cy="457200"/>
          </a:xfrm>
          <a:prstGeom prst="rect">
            <a:avLst/>
          </a:prstGeom>
          <a:noFill/>
        </p:spPr>
        <p:txBody>
          <a:bodyPr wrap="square" lIns="0" rIns="0" tIns="0" bIns="0" anchor="ctr">
            <a:spAutoFit/>
          </a:bodyPr>
          <a:lstStyle/>
          <a:p>
            <a:pPr algn="ctr">
              <a:lnSpc>
                <a:spcPct val="100000"/>
              </a:lnSpc>
            </a:pPr>
            <a:r>
              <a:rPr sz="2200" b="1">
                <a:solidFill>
                  <a:srgbClr val="1B2340"/>
                </a:solidFill>
                <a:latin typeface="Calibri"/>
              </a:rPr>
              <a:t>→</a:t>
            </a:r>
          </a:p>
        </p:txBody>
      </p:sp>
      <p:sp>
        <p:nvSpPr>
          <p:cNvPr id="7" name="Rounded Rectangle 6"/>
          <p:cNvSpPr/>
          <p:nvPr/>
        </p:nvSpPr>
        <p:spPr>
          <a:xfrm>
            <a:off x="4389120" y="1920240"/>
            <a:ext cx="2743200" cy="1234440"/>
          </a:xfrm>
          <a:prstGeom prst="roundRect">
            <a:avLst>
              <a:gd name="adj" fmla="val 10000"/>
            </a:avLst>
          </a:prstGeom>
          <a:solidFill>
            <a:srgbClr val="4C5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920240"/>
            <a:ext cx="2743200" cy="123444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Docker</a:t>
            </a:r>
          </a:p>
          <a:p>
            <a:pPr algn="ctr">
              <a:lnSpc>
                <a:spcPct val="100000"/>
              </a:lnSpc>
            </a:pPr>
            <a:r>
              <a:rPr sz="1500" b="1">
                <a:solidFill>
                  <a:srgbClr val="FFFFFF"/>
                </a:solidFill>
                <a:latin typeface="Calibri"/>
              </a:rPr>
              <a:t>FastAPI</a:t>
            </a:r>
          </a:p>
        </p:txBody>
      </p:sp>
      <p:sp>
        <p:nvSpPr>
          <p:cNvPr id="9" name="TextBox 8"/>
          <p:cNvSpPr txBox="1"/>
          <p:nvPr/>
        </p:nvSpPr>
        <p:spPr>
          <a:xfrm>
            <a:off x="7315200" y="2308860"/>
            <a:ext cx="457200" cy="457200"/>
          </a:xfrm>
          <a:prstGeom prst="rect">
            <a:avLst/>
          </a:prstGeom>
          <a:noFill/>
        </p:spPr>
        <p:txBody>
          <a:bodyPr wrap="square" lIns="0" rIns="0" tIns="0" bIns="0" anchor="ctr">
            <a:spAutoFit/>
          </a:bodyPr>
          <a:lstStyle/>
          <a:p>
            <a:pPr algn="ctr">
              <a:lnSpc>
                <a:spcPct val="100000"/>
              </a:lnSpc>
            </a:pPr>
            <a:r>
              <a:rPr sz="2200" b="1">
                <a:solidFill>
                  <a:srgbClr val="1B2340"/>
                </a:solidFill>
                <a:latin typeface="Calibri"/>
              </a:rPr>
              <a:t>→</a:t>
            </a:r>
          </a:p>
        </p:txBody>
      </p:sp>
      <p:sp>
        <p:nvSpPr>
          <p:cNvPr id="10" name="Rounded Rectangle 9"/>
          <p:cNvSpPr/>
          <p:nvPr/>
        </p:nvSpPr>
        <p:spPr>
          <a:xfrm>
            <a:off x="7955279" y="1920240"/>
            <a:ext cx="2743200" cy="1234440"/>
          </a:xfrm>
          <a:prstGeom prst="roundRect">
            <a:avLst>
              <a:gd name="adj" fmla="val 10000"/>
            </a:avLst>
          </a:prstGeom>
          <a:solidFill>
            <a:srgbClr val="2E9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1920240"/>
            <a:ext cx="2743200" cy="123444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Navigateur</a:t>
            </a:r>
          </a:p>
          <a:p>
            <a:pPr algn="ctr">
              <a:lnSpc>
                <a:spcPct val="100000"/>
              </a:lnSpc>
            </a:pPr>
            <a:r>
              <a:rPr sz="1500" b="1">
                <a:solidFill>
                  <a:srgbClr val="FFFFFF"/>
                </a:solidFill>
                <a:latin typeface="Calibri"/>
              </a:rPr>
              <a:t>localhost:8000</a:t>
            </a:r>
          </a:p>
        </p:txBody>
      </p:sp>
      <p:sp>
        <p:nvSpPr>
          <p:cNvPr id="12" name="Rounded Rectangle 11"/>
          <p:cNvSpPr/>
          <p:nvPr/>
        </p:nvSpPr>
        <p:spPr>
          <a:xfrm>
            <a:off x="822960" y="3749039"/>
            <a:ext cx="1046988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931920"/>
            <a:ext cx="10058400" cy="365760"/>
          </a:xfrm>
          <a:prstGeom prst="rect">
            <a:avLst/>
          </a:prstGeom>
          <a:noFill/>
        </p:spPr>
        <p:txBody>
          <a:bodyPr wrap="square" lIns="0" rIns="0" tIns="0" bIns="0" anchor="t">
            <a:spAutoFit/>
          </a:bodyPr>
          <a:lstStyle/>
          <a:p>
            <a:pPr algn="l">
              <a:lnSpc>
                <a:spcPct val="100000"/>
              </a:lnSpc>
            </a:pPr>
            <a:r>
              <a:rPr sz="1300" b="1">
                <a:solidFill>
                  <a:srgbClr val="4C5FD9"/>
                </a:solidFill>
                <a:latin typeface="Calibri"/>
              </a:rPr>
              <a:t>BASCULE MOCK / RÉEL PAR UNE VARIABLE</a:t>
            </a:r>
          </a:p>
        </p:txBody>
      </p:sp>
      <p:sp>
        <p:nvSpPr>
          <p:cNvPr id="14" name="TextBox 13"/>
          <p:cNvSpPr txBox="1"/>
          <p:nvPr/>
        </p:nvSpPr>
        <p:spPr>
          <a:xfrm>
            <a:off x="1097280" y="4343400"/>
            <a:ext cx="10058400" cy="731520"/>
          </a:xfrm>
          <a:prstGeom prst="rect">
            <a:avLst/>
          </a:prstGeom>
          <a:noFill/>
        </p:spPr>
        <p:txBody>
          <a:bodyPr wrap="square" lIns="0" rIns="0" tIns="0" bIns="0" anchor="t">
            <a:spAutoFit/>
          </a:bodyPr>
          <a:lstStyle/>
          <a:p>
            <a:pPr algn="l">
              <a:lnSpc>
                <a:spcPct val="125000"/>
              </a:lnSpc>
            </a:pPr>
            <a:r>
              <a:rPr sz="1300" b="0">
                <a:solidFill>
                  <a:srgbClr val="232741"/>
                </a:solidFill>
                <a:latin typeface="Calibri"/>
              </a:rPr>
              <a:t>AZURE_MODE=mock  →  démarrage sans compte Azure ni clé (services simulés, déterministes).
AZURE_MODE=real  →  mêmes appels branchés sur Azure, sans changer une ligne de code.</a:t>
            </a:r>
          </a:p>
        </p:txBody>
      </p:sp>
      <p:sp>
        <p:nvSpPr>
          <p:cNvPr id="15" name="Rounded Rectangle 14"/>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Démontrable sur un simple laptop ; seuls les appels Vision / ML sortent, et uniquement en mode réel.</a:t>
            </a:r>
          </a:p>
        </p:txBody>
      </p:sp>
      <p:sp>
        <p:nvSpPr>
          <p:cNvPr id="17" name="TextBox 16"/>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DÉMONSTRATION</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Démo live</a:t>
            </a:r>
          </a:p>
        </p:txBody>
      </p:sp>
      <p:sp>
        <p:nvSpPr>
          <p:cNvPr id="4" name="Rounded Rectangle 3"/>
          <p:cNvSpPr/>
          <p:nvPr/>
        </p:nvSpPr>
        <p:spPr>
          <a:xfrm>
            <a:off x="1097280" y="1783080"/>
            <a:ext cx="9966960" cy="3383280"/>
          </a:xfrm>
          <a:prstGeom prst="roundRect">
            <a:avLst>
              <a:gd name="adj" fmla="val 5000"/>
            </a:avLst>
          </a:prstGeom>
          <a:solidFill>
            <a:srgbClr val="1A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7320" y="2057400"/>
            <a:ext cx="146304" cy="146304"/>
          </a:xfrm>
          <a:prstGeom prst="roundRect">
            <a:avLst>
              <a:gd name="adj" fmla="val 50000"/>
            </a:avLst>
          </a:prstGeom>
          <a:solidFill>
            <a:srgbClr val="E15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64208" y="2057400"/>
            <a:ext cx="146304" cy="146304"/>
          </a:xfrm>
          <a:prstGeom prst="roundRect">
            <a:avLst>
              <a:gd name="adj" fmla="val 50000"/>
            </a:avLst>
          </a:prstGeom>
          <a:solidFill>
            <a:srgbClr val="E5B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911095" y="2057400"/>
            <a:ext cx="146304" cy="146304"/>
          </a:xfrm>
          <a:prstGeom prst="roundRect">
            <a:avLst>
              <a:gd name="adj" fmla="val 50000"/>
            </a:avLst>
          </a:prstGeom>
          <a:solidFill>
            <a:srgbClr val="2E9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606040"/>
            <a:ext cx="9144000" cy="411480"/>
          </a:xfrm>
          <a:prstGeom prst="rect">
            <a:avLst/>
          </a:prstGeom>
          <a:noFill/>
        </p:spPr>
        <p:txBody>
          <a:bodyPr wrap="square" lIns="0" rIns="0" tIns="0" bIns="0" anchor="t">
            <a:spAutoFit/>
          </a:bodyPr>
          <a:lstStyle/>
          <a:p>
            <a:pPr algn="l">
              <a:lnSpc>
                <a:spcPct val="100000"/>
              </a:lnSpc>
            </a:pPr>
            <a:r>
              <a:rPr sz="1500" b="1">
                <a:solidFill>
                  <a:srgbClr val="2E9E64"/>
                </a:solidFill>
                <a:latin typeface="Consolas"/>
              </a:rPr>
              <a:t>$ docker compose up          # webapp locale (Edge)</a:t>
            </a:r>
          </a:p>
        </p:txBody>
      </p:sp>
      <p:sp>
        <p:nvSpPr>
          <p:cNvPr id="9" name="TextBox 8"/>
          <p:cNvSpPr txBox="1"/>
          <p:nvPr/>
        </p:nvSpPr>
        <p:spPr>
          <a:xfrm>
            <a:off x="1508760" y="3108960"/>
            <a:ext cx="9144000" cy="411480"/>
          </a:xfrm>
          <a:prstGeom prst="rect">
            <a:avLst/>
          </a:prstGeom>
          <a:noFill/>
        </p:spPr>
        <p:txBody>
          <a:bodyPr wrap="square" lIns="0" rIns="0" tIns="0" bIns="0" anchor="t">
            <a:spAutoFit/>
          </a:bodyPr>
          <a:lstStyle/>
          <a:p>
            <a:pPr algn="l">
              <a:lnSpc>
                <a:spcPct val="100000"/>
              </a:lnSpc>
            </a:pPr>
            <a:r>
              <a:rPr sz="1500" b="0">
                <a:solidFill>
                  <a:srgbClr val="D7DBEE"/>
                </a:solidFill>
                <a:latin typeface="Consolas"/>
              </a:rPr>
              <a:t>1.  Saisir le véhicule + ajouter une photo</a:t>
            </a:r>
          </a:p>
        </p:txBody>
      </p:sp>
      <p:sp>
        <p:nvSpPr>
          <p:cNvPr id="10" name="TextBox 9"/>
          <p:cNvSpPr txBox="1"/>
          <p:nvPr/>
        </p:nvSpPr>
        <p:spPr>
          <a:xfrm>
            <a:off x="1508760" y="3611880"/>
            <a:ext cx="9144000" cy="411480"/>
          </a:xfrm>
          <a:prstGeom prst="rect">
            <a:avLst/>
          </a:prstGeom>
          <a:noFill/>
        </p:spPr>
        <p:txBody>
          <a:bodyPr wrap="square" lIns="0" rIns="0" tIns="0" bIns="0" anchor="t">
            <a:spAutoFit/>
          </a:bodyPr>
          <a:lstStyle/>
          <a:p>
            <a:pPr algn="l">
              <a:lnSpc>
                <a:spcPct val="100000"/>
              </a:lnSpc>
            </a:pPr>
            <a:r>
              <a:rPr sz="1500" b="0">
                <a:solidFill>
                  <a:srgbClr val="D7DBEE"/>
                </a:solidFill>
                <a:latin typeface="Consolas"/>
              </a:rPr>
              <a:t>2.  Lancer l'inspection</a:t>
            </a:r>
          </a:p>
        </p:txBody>
      </p:sp>
      <p:sp>
        <p:nvSpPr>
          <p:cNvPr id="11" name="TextBox 10"/>
          <p:cNvSpPr txBox="1"/>
          <p:nvPr/>
        </p:nvSpPr>
        <p:spPr>
          <a:xfrm>
            <a:off x="1508760" y="4114800"/>
            <a:ext cx="9144000" cy="411480"/>
          </a:xfrm>
          <a:prstGeom prst="rect">
            <a:avLst/>
          </a:prstGeom>
          <a:noFill/>
        </p:spPr>
        <p:txBody>
          <a:bodyPr wrap="square" lIns="0" rIns="0" tIns="0" bIns="0" anchor="t">
            <a:spAutoFit/>
          </a:bodyPr>
          <a:lstStyle/>
          <a:p>
            <a:pPr algn="l">
              <a:lnSpc>
                <a:spcPct val="100000"/>
              </a:lnSpc>
            </a:pPr>
            <a:r>
              <a:rPr sz="1500" b="0">
                <a:solidFill>
                  <a:srgbClr val="D7DBEE"/>
                </a:solidFill>
                <a:latin typeface="Consolas"/>
              </a:rPr>
              <a:t>3.  Orchestration multi-agents en direct (streaming)</a:t>
            </a:r>
          </a:p>
        </p:txBody>
      </p:sp>
      <p:sp>
        <p:nvSpPr>
          <p:cNvPr id="12" name="TextBox 11"/>
          <p:cNvSpPr txBox="1"/>
          <p:nvPr/>
        </p:nvSpPr>
        <p:spPr>
          <a:xfrm>
            <a:off x="1508760" y="4617720"/>
            <a:ext cx="9144000" cy="411480"/>
          </a:xfrm>
          <a:prstGeom prst="rect">
            <a:avLst/>
          </a:prstGeom>
          <a:noFill/>
        </p:spPr>
        <p:txBody>
          <a:bodyPr wrap="square" lIns="0" rIns="0" tIns="0" bIns="0" anchor="t">
            <a:spAutoFit/>
          </a:bodyPr>
          <a:lstStyle/>
          <a:p>
            <a:pPr algn="l">
              <a:lnSpc>
                <a:spcPct val="100000"/>
              </a:lnSpc>
            </a:pPr>
            <a:r>
              <a:rPr sz="1500" b="0">
                <a:solidFill>
                  <a:srgbClr val="D7DBEE"/>
                </a:solidFill>
                <a:latin typeface="Consolas"/>
              </a:rPr>
              <a:t>4.  Rapport : dommages, coût, valeur, prix conseillé</a:t>
            </a:r>
          </a:p>
        </p:txBody>
      </p:sp>
      <p:sp>
        <p:nvSpPr>
          <p:cNvPr id="13" name="Rounded Rectangle 12"/>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Même démo sans Azure (mock) ou branchée sur le modèle Custom Vision exécuté en local.</a:t>
            </a:r>
          </a:p>
        </p:txBody>
      </p:sp>
      <p:sp>
        <p:nvSpPr>
          <p:cNvPr id="15" name="TextBox 14"/>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548640" y="320040"/>
            <a:ext cx="10515600" cy="365760"/>
          </a:xfrm>
          <a:prstGeom prst="rect">
            <a:avLst/>
          </a:prstGeom>
          <a:noFill/>
        </p:spPr>
        <p:txBody>
          <a:bodyPr wrap="square" lIns="0" rIns="0" tIns="0" bIns="0" anchor="t">
            <a:spAutoFit/>
          </a:bodyPr>
          <a:lstStyle/>
          <a:p>
            <a:pPr algn="l">
              <a:lnSpc>
                <a:spcPct val="100000"/>
              </a:lnSpc>
            </a:pPr>
            <a:r>
              <a:rPr sz="1200" b="1">
                <a:solidFill>
                  <a:srgbClr val="4C5FD9"/>
                </a:solidFill>
                <a:latin typeface="Calibri"/>
              </a:rPr>
              <a:t>PÉRIMÈTRE</a:t>
            </a:r>
          </a:p>
        </p:txBody>
      </p:sp>
      <p:sp>
        <p:nvSpPr>
          <p:cNvPr id="3" name="TextBox 2"/>
          <p:cNvSpPr txBox="1"/>
          <p:nvPr/>
        </p:nvSpPr>
        <p:spPr>
          <a:xfrm>
            <a:off x="548640" y="621792"/>
            <a:ext cx="11064240" cy="777240"/>
          </a:xfrm>
          <a:prstGeom prst="rect">
            <a:avLst/>
          </a:prstGeom>
          <a:noFill/>
        </p:spPr>
        <p:txBody>
          <a:bodyPr wrap="square" lIns="0" rIns="0" tIns="0" bIns="0" anchor="t">
            <a:spAutoFit/>
          </a:bodyPr>
          <a:lstStyle/>
          <a:p>
            <a:pPr algn="l">
              <a:lnSpc>
                <a:spcPct val="100000"/>
              </a:lnSpc>
            </a:pPr>
            <a:r>
              <a:rPr sz="3000" b="1">
                <a:solidFill>
                  <a:srgbClr val="1B2340"/>
                </a:solidFill>
                <a:latin typeface="Cambria"/>
              </a:rPr>
              <a:t>Notre MVP</a:t>
            </a:r>
          </a:p>
        </p:txBody>
      </p:sp>
      <p:sp>
        <p:nvSpPr>
          <p:cNvPr id="4" name="Rounded Rectangle 3"/>
          <p:cNvSpPr/>
          <p:nvPr/>
        </p:nvSpPr>
        <p:spPr>
          <a:xfrm>
            <a:off x="548640" y="1600200"/>
            <a:ext cx="5212080" cy="3749039"/>
          </a:xfrm>
          <a:prstGeom prst="roundRect">
            <a:avLst>
              <a:gd name="adj" fmla="val 6000"/>
            </a:avLst>
          </a:prstGeom>
          <a:solidFill>
            <a:srgbClr val="EA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572000" cy="320040"/>
          </a:xfrm>
          <a:prstGeom prst="rect">
            <a:avLst/>
          </a:prstGeom>
          <a:noFill/>
        </p:spPr>
        <p:txBody>
          <a:bodyPr wrap="square" lIns="0" rIns="0" tIns="0" bIns="0" anchor="t">
            <a:spAutoFit/>
          </a:bodyPr>
          <a:lstStyle/>
          <a:p>
            <a:pPr algn="l">
              <a:lnSpc>
                <a:spcPct val="100000"/>
              </a:lnSpc>
            </a:pPr>
            <a:r>
              <a:rPr sz="1400" b="1">
                <a:solidFill>
                  <a:srgbClr val="2E9E64"/>
                </a:solidFill>
                <a:latin typeface="Calibri"/>
              </a:rPr>
              <a:t>INCLUS DANS LE MVP</a:t>
            </a:r>
          </a:p>
        </p:txBody>
      </p:sp>
      <p:sp>
        <p:nvSpPr>
          <p:cNvPr id="6" name="TextBox 5"/>
          <p:cNvSpPr txBox="1"/>
          <p:nvPr/>
        </p:nvSpPr>
        <p:spPr>
          <a:xfrm>
            <a:off x="868680" y="2423160"/>
            <a:ext cx="4663440" cy="2926080"/>
          </a:xfrm>
          <a:prstGeom prst="rect">
            <a:avLst/>
          </a:prstGeom>
          <a:noFill/>
        </p:spPr>
        <p:txBody>
          <a:bodyPr wrap="square" lIns="0" rIns="0" tIns="0" bIns="0">
            <a:spAutoFit/>
          </a:bodyPr>
          <a:lstStyle/>
          <a:p>
            <a:pPr>
              <a:lnSpc>
                <a:spcPct val="115000"/>
              </a:lnSpc>
              <a:spcAft>
                <a:spcPts val="600"/>
              </a:spcAft>
            </a:pPr>
            <a:r>
              <a:rPr sz="1300" b="1">
                <a:solidFill>
                  <a:srgbClr val="2E9E64"/>
                </a:solidFill>
                <a:latin typeface="Calibri"/>
              </a:rPr>
              <a:t>•  </a:t>
            </a:r>
            <a:r>
              <a:rPr sz="1300">
                <a:solidFill>
                  <a:srgbClr val="232741"/>
                </a:solidFill>
                <a:latin typeface="Calibri"/>
              </a:rPr>
              <a:t>Upload de photos, webapp locale</a:t>
            </a:r>
          </a:p>
          <a:p>
            <a:pPr>
              <a:lnSpc>
                <a:spcPct val="115000"/>
              </a:lnSpc>
              <a:spcAft>
                <a:spcPts val="600"/>
              </a:spcAft>
            </a:pPr>
            <a:r>
              <a:rPr sz="1300" b="1">
                <a:solidFill>
                  <a:srgbClr val="2E9E64"/>
                </a:solidFill>
                <a:latin typeface="Calibri"/>
              </a:rPr>
              <a:t>•  </a:t>
            </a:r>
            <a:r>
              <a:rPr sz="1300">
                <a:solidFill>
                  <a:srgbClr val="232741"/>
                </a:solidFill>
                <a:latin typeface="Calibri"/>
              </a:rPr>
              <a:t>Détection de l'état (Computer Vision)</a:t>
            </a:r>
          </a:p>
          <a:p>
            <a:pPr>
              <a:lnSpc>
                <a:spcPct val="115000"/>
              </a:lnSpc>
              <a:spcAft>
                <a:spcPts val="600"/>
              </a:spcAft>
            </a:pPr>
            <a:r>
              <a:rPr sz="1300" b="1">
                <a:solidFill>
                  <a:srgbClr val="2E9E64"/>
                </a:solidFill>
                <a:latin typeface="Calibri"/>
              </a:rPr>
              <a:t>•  </a:t>
            </a:r>
            <a:r>
              <a:rPr sz="1300">
                <a:solidFill>
                  <a:srgbClr val="232741"/>
                </a:solidFill>
                <a:latin typeface="Calibri"/>
              </a:rPr>
              <a:t>Coût de réparation + valeur (ML)</a:t>
            </a:r>
          </a:p>
          <a:p>
            <a:pPr>
              <a:lnSpc>
                <a:spcPct val="115000"/>
              </a:lnSpc>
              <a:spcAft>
                <a:spcPts val="600"/>
              </a:spcAft>
            </a:pPr>
            <a:r>
              <a:rPr sz="1300" b="1">
                <a:solidFill>
                  <a:srgbClr val="2E9E64"/>
                </a:solidFill>
                <a:latin typeface="Calibri"/>
              </a:rPr>
              <a:t>•  </a:t>
            </a:r>
            <a:r>
              <a:rPr sz="1300">
                <a:solidFill>
                  <a:srgbClr val="232741"/>
                </a:solidFill>
                <a:latin typeface="Calibri"/>
              </a:rPr>
              <a:t>Orchestration multi-agents + rapport</a:t>
            </a:r>
          </a:p>
          <a:p>
            <a:pPr>
              <a:lnSpc>
                <a:spcPct val="115000"/>
              </a:lnSpc>
              <a:spcAft>
                <a:spcPts val="600"/>
              </a:spcAft>
            </a:pPr>
            <a:r>
              <a:rPr sz="1300" b="1">
                <a:solidFill>
                  <a:srgbClr val="2E9E64"/>
                </a:solidFill>
                <a:latin typeface="Calibri"/>
              </a:rPr>
              <a:t>•  </a:t>
            </a:r>
            <a:r>
              <a:rPr sz="1300">
                <a:solidFill>
                  <a:srgbClr val="232741"/>
                </a:solidFill>
                <a:latin typeface="Calibri"/>
              </a:rPr>
              <a:t>Prix d'achat conseillé et argumenté</a:t>
            </a:r>
          </a:p>
        </p:txBody>
      </p:sp>
      <p:sp>
        <p:nvSpPr>
          <p:cNvPr id="7" name="Rounded Rectangle 6"/>
          <p:cNvSpPr/>
          <p:nvPr/>
        </p:nvSpPr>
        <p:spPr>
          <a:xfrm>
            <a:off x="6080760" y="1600200"/>
            <a:ext cx="5212080" cy="3749039"/>
          </a:xfrm>
          <a:prstGeom prst="roundRect">
            <a:avLst>
              <a:gd name="adj" fmla="val 6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572000" cy="320040"/>
          </a:xfrm>
          <a:prstGeom prst="rect">
            <a:avLst/>
          </a:prstGeom>
          <a:noFill/>
        </p:spPr>
        <p:txBody>
          <a:bodyPr wrap="square" lIns="0" rIns="0" tIns="0" bIns="0" anchor="t">
            <a:spAutoFit/>
          </a:bodyPr>
          <a:lstStyle/>
          <a:p>
            <a:pPr algn="l">
              <a:lnSpc>
                <a:spcPct val="100000"/>
              </a:lnSpc>
            </a:pPr>
            <a:r>
              <a:rPr sz="1400" b="1">
                <a:solidFill>
                  <a:srgbClr val="8A93A8"/>
                </a:solidFill>
                <a:latin typeface="Calibri"/>
              </a:rPr>
              <a:t>HORS MVP / ÉVOLUTIONS</a:t>
            </a:r>
          </a:p>
        </p:txBody>
      </p:sp>
      <p:sp>
        <p:nvSpPr>
          <p:cNvPr id="9" name="TextBox 8"/>
          <p:cNvSpPr txBox="1"/>
          <p:nvPr/>
        </p:nvSpPr>
        <p:spPr>
          <a:xfrm>
            <a:off x="6400800" y="2423160"/>
            <a:ext cx="4663440" cy="2926080"/>
          </a:xfrm>
          <a:prstGeom prst="rect">
            <a:avLst/>
          </a:prstGeom>
          <a:noFill/>
        </p:spPr>
        <p:txBody>
          <a:bodyPr wrap="square" lIns="0" rIns="0" tIns="0" bIns="0">
            <a:spAutoFit/>
          </a:bodyPr>
          <a:lstStyle/>
          <a:p>
            <a:pPr>
              <a:lnSpc>
                <a:spcPct val="115000"/>
              </a:lnSpc>
              <a:spcAft>
                <a:spcPts val="600"/>
              </a:spcAft>
            </a:pPr>
            <a:r>
              <a:rPr sz="1300" b="1">
                <a:solidFill>
                  <a:srgbClr val="8A93A8"/>
                </a:solidFill>
                <a:latin typeface="Calibri"/>
              </a:rPr>
              <a:t>•  </a:t>
            </a:r>
            <a:r>
              <a:rPr sz="1300">
                <a:solidFill>
                  <a:srgbClr val="232741"/>
                </a:solidFill>
                <a:latin typeface="Calibri"/>
              </a:rPr>
              <a:t>Modèles Azure entraînés sur données réelles</a:t>
            </a:r>
          </a:p>
          <a:p>
            <a:pPr>
              <a:lnSpc>
                <a:spcPct val="115000"/>
              </a:lnSpc>
              <a:spcAft>
                <a:spcPts val="600"/>
              </a:spcAft>
            </a:pPr>
            <a:r>
              <a:rPr sz="1300" b="1">
                <a:solidFill>
                  <a:srgbClr val="8A93A8"/>
                </a:solidFill>
                <a:latin typeface="Calibri"/>
              </a:rPr>
              <a:t>•  </a:t>
            </a:r>
            <a:r>
              <a:rPr sz="1300">
                <a:solidFill>
                  <a:srgbClr val="232741"/>
                </a:solidFill>
                <a:latin typeface="Calibri"/>
              </a:rPr>
              <a:t>Détection fine du type de dommage</a:t>
            </a:r>
          </a:p>
          <a:p>
            <a:pPr>
              <a:lnSpc>
                <a:spcPct val="115000"/>
              </a:lnSpc>
              <a:spcAft>
                <a:spcPts val="600"/>
              </a:spcAft>
            </a:pPr>
            <a:r>
              <a:rPr sz="1300" b="1">
                <a:solidFill>
                  <a:srgbClr val="8A93A8"/>
                </a:solidFill>
                <a:latin typeface="Calibri"/>
              </a:rPr>
              <a:t>•  </a:t>
            </a:r>
            <a:r>
              <a:rPr sz="1300">
                <a:solidFill>
                  <a:srgbClr val="232741"/>
                </a:solidFill>
                <a:latin typeface="Calibri"/>
              </a:rPr>
              <a:t>Traitement vidéo 360</a:t>
            </a:r>
          </a:p>
          <a:p>
            <a:pPr>
              <a:lnSpc>
                <a:spcPct val="115000"/>
              </a:lnSpc>
              <a:spcAft>
                <a:spcPts val="600"/>
              </a:spcAft>
            </a:pPr>
            <a:r>
              <a:rPr sz="1300" b="1">
                <a:solidFill>
                  <a:srgbClr val="8A93A8"/>
                </a:solidFill>
                <a:latin typeface="Calibri"/>
              </a:rPr>
              <a:t>•  </a:t>
            </a:r>
            <a:r>
              <a:rPr sz="1300">
                <a:solidFill>
                  <a:srgbClr val="232741"/>
                </a:solidFill>
                <a:latin typeface="Calibri"/>
              </a:rPr>
              <a:t>Comptes utilisateurs, export PDF</a:t>
            </a:r>
          </a:p>
          <a:p>
            <a:pPr>
              <a:lnSpc>
                <a:spcPct val="115000"/>
              </a:lnSpc>
              <a:spcAft>
                <a:spcPts val="600"/>
              </a:spcAft>
            </a:pPr>
            <a:r>
              <a:rPr sz="1300" b="1">
                <a:solidFill>
                  <a:srgbClr val="8A93A8"/>
                </a:solidFill>
                <a:latin typeface="Calibri"/>
              </a:rPr>
              <a:t>•  </a:t>
            </a:r>
            <a:r>
              <a:rPr sz="1300">
                <a:solidFill>
                  <a:srgbClr val="232741"/>
                </a:solidFill>
                <a:latin typeface="Calibri"/>
              </a:rPr>
              <a:t>Application mobile</a:t>
            </a:r>
          </a:p>
        </p:txBody>
      </p:sp>
      <p:sp>
        <p:nvSpPr>
          <p:cNvPr id="10" name="Rounded Rectangle 9"/>
          <p:cNvSpPr/>
          <p:nvPr/>
        </p:nvSpPr>
        <p:spPr>
          <a:xfrm>
            <a:off x="548640" y="5623560"/>
            <a:ext cx="11091672" cy="640080"/>
          </a:xfrm>
          <a:prstGeom prst="roundRect">
            <a:avLst>
              <a:gd name="adj" fmla="val 10000"/>
            </a:avLst>
          </a:prstGeom>
          <a:solidFill>
            <a:srgbClr val="EE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623560"/>
            <a:ext cx="10515600" cy="640080"/>
          </a:xfrm>
          <a:prstGeom prst="rect">
            <a:avLst/>
          </a:prstGeom>
          <a:noFill/>
        </p:spPr>
        <p:txBody>
          <a:bodyPr wrap="square" lIns="0" rIns="0" tIns="0" bIns="0" anchor="ctr">
            <a:spAutoFit/>
          </a:bodyPr>
          <a:lstStyle/>
          <a:p>
            <a:pPr algn="l">
              <a:lnSpc>
                <a:spcPct val="100000"/>
              </a:lnSpc>
            </a:pPr>
            <a:r>
              <a:rPr sz="1200" b="0">
                <a:solidFill>
                  <a:srgbClr val="232741"/>
                </a:solidFill>
                <a:latin typeface="Calibri"/>
              </a:rPr>
              <a:t>Fonctionnel sans budget Azure (mock), branchable sur Azure sans réécriture.</a:t>
            </a:r>
          </a:p>
        </p:txBody>
      </p:sp>
      <p:sp>
        <p:nvSpPr>
          <p:cNvPr id="12" name="TextBox 11"/>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6B7280"/>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340"/>
        </a:solidFill>
        <a:effectLst/>
      </p:bgPr>
    </p:bg>
    <p:spTree>
      <p:nvGrpSpPr>
        <p:cNvPr id="1" name=""/>
        <p:cNvGrpSpPr/>
        <p:nvPr/>
      </p:nvGrpSpPr>
      <p:grpSpPr/>
      <p:sp>
        <p:nvSpPr>
          <p:cNvPr id="2" name="TextBox 1"/>
          <p:cNvSpPr txBox="1"/>
          <p:nvPr/>
        </p:nvSpPr>
        <p:spPr>
          <a:xfrm>
            <a:off x="548640" y="402336"/>
            <a:ext cx="9144000" cy="365760"/>
          </a:xfrm>
          <a:prstGeom prst="rect">
            <a:avLst/>
          </a:prstGeom>
          <a:noFill/>
        </p:spPr>
        <p:txBody>
          <a:bodyPr wrap="square" lIns="0" rIns="0" tIns="0" bIns="0" anchor="t">
            <a:spAutoFit/>
          </a:bodyPr>
          <a:lstStyle/>
          <a:p>
            <a:pPr algn="l">
              <a:lnSpc>
                <a:spcPct val="100000"/>
              </a:lnSpc>
            </a:pPr>
            <a:r>
              <a:rPr sz="1200" b="1">
                <a:solidFill>
                  <a:srgbClr val="AFC0FF"/>
                </a:solidFill>
                <a:latin typeface="Calibri"/>
              </a:rPr>
              <a:t>ÉQUIPE &amp; CONCLUSION</a:t>
            </a:r>
          </a:p>
        </p:txBody>
      </p:sp>
      <p:sp>
        <p:nvSpPr>
          <p:cNvPr id="3" name="TextBox 2"/>
          <p:cNvSpPr txBox="1"/>
          <p:nvPr/>
        </p:nvSpPr>
        <p:spPr>
          <a:xfrm>
            <a:off x="530352" y="850392"/>
            <a:ext cx="10972800" cy="731520"/>
          </a:xfrm>
          <a:prstGeom prst="rect">
            <a:avLst/>
          </a:prstGeom>
          <a:noFill/>
        </p:spPr>
        <p:txBody>
          <a:bodyPr wrap="square" lIns="0" rIns="0" tIns="0" bIns="0" anchor="t">
            <a:spAutoFit/>
          </a:bodyPr>
          <a:lstStyle/>
          <a:p>
            <a:pPr algn="l">
              <a:lnSpc>
                <a:spcPct val="100000"/>
              </a:lnSpc>
            </a:pPr>
            <a:r>
              <a:rPr sz="3000" b="1">
                <a:solidFill>
                  <a:srgbClr val="FFFFFF"/>
                </a:solidFill>
                <a:latin typeface="Cambria"/>
              </a:rPr>
              <a:t>Merci  —  des questions ?</a:t>
            </a:r>
          </a:p>
        </p:txBody>
      </p:sp>
      <p:sp>
        <p:nvSpPr>
          <p:cNvPr id="4" name="Rounded Rectangle 3"/>
          <p:cNvSpPr/>
          <p:nvPr/>
        </p:nvSpPr>
        <p:spPr>
          <a:xfrm>
            <a:off x="548640" y="2148840"/>
            <a:ext cx="2651760" cy="1417320"/>
          </a:xfrm>
          <a:prstGeom prst="roundRect">
            <a:avLst>
              <a:gd name="adj" fmla="val 8000"/>
            </a:avLst>
          </a:prstGeom>
          <a:solidFill>
            <a:srgbClr val="232C52"/>
          </a:solidFill>
          <a:ln w="12700">
            <a:solidFill>
              <a:srgbClr val="AFC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441448"/>
            <a:ext cx="2377440" cy="548640"/>
          </a:xfrm>
          <a:prstGeom prst="rect">
            <a:avLst/>
          </a:prstGeom>
          <a:noFill/>
        </p:spPr>
        <p:txBody>
          <a:bodyPr wrap="square" lIns="0" rIns="0" tIns="0" bIns="0" anchor="t">
            <a:spAutoFit/>
          </a:bodyPr>
          <a:lstStyle/>
          <a:p>
            <a:pPr algn="ctr">
              <a:lnSpc>
                <a:spcPct val="100000"/>
              </a:lnSpc>
            </a:pPr>
            <a:r>
              <a:rPr sz="1400" b="1">
                <a:solidFill>
                  <a:srgbClr val="FFFFFF"/>
                </a:solidFill>
                <a:latin typeface="Calibri"/>
              </a:rPr>
              <a:t>Computer Vision</a:t>
            </a:r>
          </a:p>
        </p:txBody>
      </p:sp>
      <p:sp>
        <p:nvSpPr>
          <p:cNvPr id="6" name="TextBox 5"/>
          <p:cNvSpPr txBox="1"/>
          <p:nvPr/>
        </p:nvSpPr>
        <p:spPr>
          <a:xfrm>
            <a:off x="685800" y="2990088"/>
            <a:ext cx="2377440" cy="457200"/>
          </a:xfrm>
          <a:prstGeom prst="rect">
            <a:avLst/>
          </a:prstGeom>
          <a:noFill/>
        </p:spPr>
        <p:txBody>
          <a:bodyPr wrap="square" lIns="0" rIns="0" tIns="0" bIns="0" anchor="t">
            <a:spAutoFit/>
          </a:bodyPr>
          <a:lstStyle/>
          <a:p>
            <a:pPr algn="ctr">
              <a:lnSpc>
                <a:spcPct val="100000"/>
              </a:lnSpc>
            </a:pPr>
            <a:r>
              <a:rPr sz="1150" b="0">
                <a:solidFill>
                  <a:srgbClr val="AFC0FF"/>
                </a:solidFill>
                <a:latin typeface="Calibri"/>
              </a:rPr>
              <a:t>Arthur Goullet De Rugy</a:t>
            </a:r>
          </a:p>
        </p:txBody>
      </p:sp>
      <p:sp>
        <p:nvSpPr>
          <p:cNvPr id="7" name="Rounded Rectangle 6"/>
          <p:cNvSpPr/>
          <p:nvPr/>
        </p:nvSpPr>
        <p:spPr>
          <a:xfrm>
            <a:off x="3465576" y="2148840"/>
            <a:ext cx="2651760" cy="1417320"/>
          </a:xfrm>
          <a:prstGeom prst="roundRect">
            <a:avLst>
              <a:gd name="adj" fmla="val 8000"/>
            </a:avLst>
          </a:prstGeom>
          <a:solidFill>
            <a:srgbClr val="232C52"/>
          </a:solidFill>
          <a:ln w="12700">
            <a:solidFill>
              <a:srgbClr val="AFC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2736" y="2441448"/>
            <a:ext cx="2377440" cy="548640"/>
          </a:xfrm>
          <a:prstGeom prst="rect">
            <a:avLst/>
          </a:prstGeom>
          <a:noFill/>
        </p:spPr>
        <p:txBody>
          <a:bodyPr wrap="square" lIns="0" rIns="0" tIns="0" bIns="0" anchor="t">
            <a:spAutoFit/>
          </a:bodyPr>
          <a:lstStyle/>
          <a:p>
            <a:pPr algn="ctr">
              <a:lnSpc>
                <a:spcPct val="100000"/>
              </a:lnSpc>
            </a:pPr>
            <a:r>
              <a:rPr sz="1400" b="1">
                <a:solidFill>
                  <a:srgbClr val="FFFFFF"/>
                </a:solidFill>
                <a:latin typeface="Calibri"/>
              </a:rPr>
              <a:t>Machine Learning</a:t>
            </a:r>
          </a:p>
        </p:txBody>
      </p:sp>
      <p:sp>
        <p:nvSpPr>
          <p:cNvPr id="9" name="TextBox 8"/>
          <p:cNvSpPr txBox="1"/>
          <p:nvPr/>
        </p:nvSpPr>
        <p:spPr>
          <a:xfrm>
            <a:off x="3602736" y="2990088"/>
            <a:ext cx="2377440" cy="457200"/>
          </a:xfrm>
          <a:prstGeom prst="rect">
            <a:avLst/>
          </a:prstGeom>
          <a:noFill/>
        </p:spPr>
        <p:txBody>
          <a:bodyPr wrap="square" lIns="0" rIns="0" tIns="0" bIns="0" anchor="t">
            <a:spAutoFit/>
          </a:bodyPr>
          <a:lstStyle/>
          <a:p>
            <a:pPr algn="ctr">
              <a:lnSpc>
                <a:spcPct val="100000"/>
              </a:lnSpc>
            </a:pPr>
            <a:r>
              <a:rPr sz="1150" b="0">
                <a:solidFill>
                  <a:srgbClr val="AFC0FF"/>
                </a:solidFill>
                <a:latin typeface="Calibri"/>
              </a:rPr>
              <a:t>Évariste Balvay</a:t>
            </a:r>
          </a:p>
        </p:txBody>
      </p:sp>
      <p:sp>
        <p:nvSpPr>
          <p:cNvPr id="10" name="Rounded Rectangle 9"/>
          <p:cNvSpPr/>
          <p:nvPr/>
        </p:nvSpPr>
        <p:spPr>
          <a:xfrm>
            <a:off x="6382512" y="2148840"/>
            <a:ext cx="2651760" cy="1417320"/>
          </a:xfrm>
          <a:prstGeom prst="roundRect">
            <a:avLst>
              <a:gd name="adj" fmla="val 8000"/>
            </a:avLst>
          </a:prstGeom>
          <a:solidFill>
            <a:srgbClr val="232C52"/>
          </a:solidFill>
          <a:ln w="12700">
            <a:solidFill>
              <a:srgbClr val="AFC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2441448"/>
            <a:ext cx="2377440" cy="548640"/>
          </a:xfrm>
          <a:prstGeom prst="rect">
            <a:avLst/>
          </a:prstGeom>
          <a:noFill/>
        </p:spPr>
        <p:txBody>
          <a:bodyPr wrap="square" lIns="0" rIns="0" tIns="0" bIns="0" anchor="t">
            <a:spAutoFit/>
          </a:bodyPr>
          <a:lstStyle/>
          <a:p>
            <a:pPr algn="ctr">
              <a:lnSpc>
                <a:spcPct val="100000"/>
              </a:lnSpc>
            </a:pPr>
            <a:r>
              <a:rPr sz="1400" b="1">
                <a:solidFill>
                  <a:srgbClr val="FFFFFF"/>
                </a:solidFill>
                <a:latin typeface="Calibri"/>
              </a:rPr>
              <a:t>Agents &amp; LLM</a:t>
            </a:r>
          </a:p>
        </p:txBody>
      </p:sp>
      <p:sp>
        <p:nvSpPr>
          <p:cNvPr id="12" name="TextBox 11"/>
          <p:cNvSpPr txBox="1"/>
          <p:nvPr/>
        </p:nvSpPr>
        <p:spPr>
          <a:xfrm>
            <a:off x="6519672" y="2990088"/>
            <a:ext cx="2377440" cy="457200"/>
          </a:xfrm>
          <a:prstGeom prst="rect">
            <a:avLst/>
          </a:prstGeom>
          <a:noFill/>
        </p:spPr>
        <p:txBody>
          <a:bodyPr wrap="square" lIns="0" rIns="0" tIns="0" bIns="0" anchor="t">
            <a:spAutoFit/>
          </a:bodyPr>
          <a:lstStyle/>
          <a:p>
            <a:pPr algn="ctr">
              <a:lnSpc>
                <a:spcPct val="100000"/>
              </a:lnSpc>
            </a:pPr>
            <a:r>
              <a:rPr sz="1150" b="0">
                <a:solidFill>
                  <a:srgbClr val="AFC0FF"/>
                </a:solidFill>
                <a:latin typeface="Calibri"/>
              </a:rPr>
              <a:t>Jules Lange</a:t>
            </a:r>
          </a:p>
        </p:txBody>
      </p:sp>
      <p:sp>
        <p:nvSpPr>
          <p:cNvPr id="13" name="Rounded Rectangle 12"/>
          <p:cNvSpPr/>
          <p:nvPr/>
        </p:nvSpPr>
        <p:spPr>
          <a:xfrm>
            <a:off x="9299448" y="2148840"/>
            <a:ext cx="2651760" cy="1417320"/>
          </a:xfrm>
          <a:prstGeom prst="roundRect">
            <a:avLst>
              <a:gd name="adj" fmla="val 8000"/>
            </a:avLst>
          </a:prstGeom>
          <a:solidFill>
            <a:srgbClr val="232C52"/>
          </a:solidFill>
          <a:ln w="12700">
            <a:solidFill>
              <a:srgbClr val="AFC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36608" y="2441448"/>
            <a:ext cx="2377440" cy="548640"/>
          </a:xfrm>
          <a:prstGeom prst="rect">
            <a:avLst/>
          </a:prstGeom>
          <a:noFill/>
        </p:spPr>
        <p:txBody>
          <a:bodyPr wrap="square" lIns="0" rIns="0" tIns="0" bIns="0" anchor="t">
            <a:spAutoFit/>
          </a:bodyPr>
          <a:lstStyle/>
          <a:p>
            <a:pPr algn="ctr">
              <a:lnSpc>
                <a:spcPct val="100000"/>
              </a:lnSpc>
            </a:pPr>
            <a:r>
              <a:rPr sz="1400" b="1">
                <a:solidFill>
                  <a:srgbClr val="FFFFFF"/>
                </a:solidFill>
                <a:latin typeface="Calibri"/>
              </a:rPr>
              <a:t>Edge &amp; Démo</a:t>
            </a:r>
          </a:p>
        </p:txBody>
      </p:sp>
      <p:sp>
        <p:nvSpPr>
          <p:cNvPr id="15" name="TextBox 14"/>
          <p:cNvSpPr txBox="1"/>
          <p:nvPr/>
        </p:nvSpPr>
        <p:spPr>
          <a:xfrm>
            <a:off x="9436608" y="2990088"/>
            <a:ext cx="2377440" cy="457200"/>
          </a:xfrm>
          <a:prstGeom prst="rect">
            <a:avLst/>
          </a:prstGeom>
          <a:noFill/>
        </p:spPr>
        <p:txBody>
          <a:bodyPr wrap="square" lIns="0" rIns="0" tIns="0" bIns="0" anchor="t">
            <a:spAutoFit/>
          </a:bodyPr>
          <a:lstStyle/>
          <a:p>
            <a:pPr algn="ctr">
              <a:lnSpc>
                <a:spcPct val="100000"/>
              </a:lnSpc>
            </a:pPr>
            <a:r>
              <a:rPr sz="1150" b="0">
                <a:solidFill>
                  <a:srgbClr val="AFC0FF"/>
                </a:solidFill>
                <a:latin typeface="Calibri"/>
              </a:rPr>
              <a:t>Toute l'équipe</a:t>
            </a:r>
          </a:p>
        </p:txBody>
      </p:sp>
      <p:cxnSp>
        <p:nvCxnSpPr>
          <p:cNvPr id="16" name="Connector 15"/>
          <p:cNvCxnSpPr/>
          <p:nvPr/>
        </p:nvCxnSpPr>
        <p:spPr>
          <a:xfrm>
            <a:off x="548640" y="4160520"/>
            <a:ext cx="11064240" cy="0"/>
          </a:xfrm>
          <a:prstGeom prst="bentConnector3">
            <a:avLst/>
          </a:prstGeom>
          <a:ln w="12700">
            <a:solidFill>
              <a:srgbClr val="3A447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526280"/>
            <a:ext cx="11064240" cy="1188720"/>
          </a:xfrm>
          <a:prstGeom prst="rect">
            <a:avLst/>
          </a:prstGeom>
          <a:noFill/>
        </p:spPr>
        <p:txBody>
          <a:bodyPr wrap="square" lIns="0" rIns="0" tIns="0" bIns="0" anchor="t">
            <a:spAutoFit/>
          </a:bodyPr>
          <a:lstStyle/>
          <a:p>
            <a:pPr algn="l">
              <a:lnSpc>
                <a:spcPct val="115000"/>
              </a:lnSpc>
            </a:pPr>
            <a:r>
              <a:rPr sz="1800" b="1">
                <a:solidFill>
                  <a:srgbClr val="FFFFFF"/>
                </a:solidFill>
                <a:latin typeface="Cambria"/>
              </a:rPr>
              <a:t>Un cas concret qui réunit Vision, Machine Learning et agents : démontrable en local, déployable sur Azure sans réécriture.</a:t>
            </a:r>
          </a:p>
        </p:txBody>
      </p:sp>
      <p:sp>
        <p:nvSpPr>
          <p:cNvPr id="18" name="TextBox 17"/>
          <p:cNvSpPr txBox="1"/>
          <p:nvPr/>
        </p:nvSpPr>
        <p:spPr>
          <a:xfrm>
            <a:off x="10908792" y="6419088"/>
            <a:ext cx="960120" cy="274320"/>
          </a:xfrm>
          <a:prstGeom prst="rect">
            <a:avLst/>
          </a:prstGeom>
          <a:noFill/>
        </p:spPr>
        <p:txBody>
          <a:bodyPr wrap="square" lIns="0" rIns="0" tIns="0" bIns="0" anchor="t">
            <a:spAutoFit/>
          </a:bodyPr>
          <a:lstStyle/>
          <a:p>
            <a:pPr algn="r">
              <a:lnSpc>
                <a:spcPct val="100000"/>
              </a:lnSpc>
            </a:pPr>
            <a:r>
              <a:rPr sz="900" b="0">
                <a:solidFill>
                  <a:srgbClr val="8A93C0"/>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